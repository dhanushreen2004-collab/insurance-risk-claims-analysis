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6858000" y="457200"/>
            <a:ext cx="2011680" cy="2011680"/>
          </a:xfrm>
          <a:prstGeom prst="ellipse">
            <a:avLst/>
          </a:prstGeom>
          <a:solidFill>
            <a:srgbClr val="028090">
              <a:alpha val="30000"/>
            </a:srgbClr>
          </a:solidFill>
          <a:ln w="19050">
            <a:solidFill>
              <a:srgbClr val="00C9A7"/>
            </a:solidFill>
            <a:prstDash val="solid"/>
          </a:ln>
        </p:spPr>
      </p:sp>
      <p:sp>
        <p:nvSpPr>
          <p:cNvPr id="4" name="Shape 2"/>
          <p:cNvSpPr/>
          <p:nvPr/>
        </p:nvSpPr>
        <p:spPr>
          <a:xfrm>
            <a:off x="7040880" y="640080"/>
            <a:ext cx="1645920" cy="1645920"/>
          </a:xfrm>
          <a:prstGeom prst="ellipse">
            <a:avLst/>
          </a:prstGeom>
          <a:solidFill>
            <a:srgbClr val="028090">
              <a:alpha val="50000"/>
            </a:srgbClr>
          </a:solidFill>
          <a:ln w="12700">
            <a:solidFill>
              <a:srgbClr val="00C9A7"/>
            </a:solidFill>
            <a:prstDash val="solid"/>
          </a:ln>
        </p:spPr>
      </p:sp>
      <p:sp>
        <p:nvSpPr>
          <p:cNvPr id="5" name="Text 3"/>
          <p:cNvSpPr/>
          <p:nvPr/>
        </p:nvSpPr>
        <p:spPr>
          <a:xfrm>
            <a:off x="457200" y="1005840"/>
            <a:ext cx="6400800" cy="822960"/>
          </a:xfrm>
          <a:prstGeom prst="rect">
            <a:avLst/>
          </a:prstGeom>
          <a:noFill/>
          <a:ln/>
        </p:spPr>
        <p:txBody>
          <a:bodyPr wrap="square" rtlCol="0" anchor="ctr"/>
          <a:lstStyle/>
          <a:p>
            <a:pPr indent="0" marL="0">
              <a:buNone/>
            </a:pPr>
            <a:r>
              <a:rPr lang="en-US" sz="4200" b="1" spc="200" kern="0" dirty="0">
                <a:solidFill>
                  <a:srgbClr val="FFFFFF"/>
                </a:solidFill>
                <a:latin typeface="Calibri" pitchFamily="34" charset="0"/>
                <a:ea typeface="Calibri" pitchFamily="34" charset="-122"/>
                <a:cs typeface="Calibri" pitchFamily="34" charset="-120"/>
              </a:rPr>
              <a:t>INSURANCE RISK</a:t>
            </a:r>
            <a:endParaRPr lang="en-US" sz="4200" dirty="0"/>
          </a:p>
        </p:txBody>
      </p:sp>
      <p:sp>
        <p:nvSpPr>
          <p:cNvPr id="6" name="Text 4"/>
          <p:cNvSpPr/>
          <p:nvPr/>
        </p:nvSpPr>
        <p:spPr>
          <a:xfrm>
            <a:off x="457200" y="1737360"/>
            <a:ext cx="6400800" cy="822960"/>
          </a:xfrm>
          <a:prstGeom prst="rect">
            <a:avLst/>
          </a:prstGeom>
          <a:noFill/>
          <a:ln/>
        </p:spPr>
        <p:txBody>
          <a:bodyPr wrap="square" rtlCol="0" anchor="ctr"/>
          <a:lstStyle/>
          <a:p>
            <a:pPr indent="0" marL="0">
              <a:buNone/>
            </a:pPr>
            <a:r>
              <a:rPr lang="en-US" sz="4200" b="1" spc="200" kern="0" dirty="0">
                <a:solidFill>
                  <a:srgbClr val="00C9A7"/>
                </a:solidFill>
                <a:latin typeface="Calibri" pitchFamily="34" charset="0"/>
                <a:ea typeface="Calibri" pitchFamily="34" charset="-122"/>
                <a:cs typeface="Calibri" pitchFamily="34" charset="-120"/>
              </a:rPr>
              <a:t>AND CLAIMS ANALYSIS</a:t>
            </a:r>
            <a:endParaRPr lang="en-US" sz="4200" dirty="0"/>
          </a:p>
        </p:txBody>
      </p:sp>
      <p:sp>
        <p:nvSpPr>
          <p:cNvPr id="7" name="Shape 5"/>
          <p:cNvSpPr/>
          <p:nvPr/>
        </p:nvSpPr>
        <p:spPr>
          <a:xfrm>
            <a:off x="457200" y="2606040"/>
            <a:ext cx="2286000" cy="45720"/>
          </a:xfrm>
          <a:prstGeom prst="rect">
            <a:avLst/>
          </a:prstGeom>
          <a:solidFill>
            <a:srgbClr val="00C9A7"/>
          </a:solidFill>
          <a:ln w="12700">
            <a:solidFill>
              <a:srgbClr val="00C9A7"/>
            </a:solidFill>
            <a:prstDash val="solid"/>
          </a:ln>
        </p:spPr>
      </p:sp>
      <p:sp>
        <p:nvSpPr>
          <p:cNvPr id="8" name="Text 6"/>
          <p:cNvSpPr/>
          <p:nvPr/>
        </p:nvSpPr>
        <p:spPr>
          <a:xfrm>
            <a:off x="457200" y="2743200"/>
            <a:ext cx="5486400" cy="411480"/>
          </a:xfrm>
          <a:prstGeom prst="rect">
            <a:avLst/>
          </a:prstGeom>
          <a:noFill/>
          <a:ln/>
        </p:spPr>
        <p:txBody>
          <a:bodyPr wrap="square" rtlCol="0" anchor="ctr"/>
          <a:lstStyle/>
          <a:p>
            <a:pPr indent="0" marL="0">
              <a:buNone/>
            </a:pPr>
            <a:r>
              <a:rPr lang="en-US" sz="1800" i="1" dirty="0">
                <a:solidFill>
                  <a:srgbClr val="B0C4DE"/>
                </a:solidFill>
                <a:latin typeface="Calibri" pitchFamily="34" charset="0"/>
                <a:ea typeface="Calibri" pitchFamily="34" charset="-122"/>
                <a:cs typeface="Calibri" pitchFamily="34" charset="-120"/>
              </a:rPr>
              <a:t>Power BI Dashboard Project</a:t>
            </a:r>
            <a:endParaRPr lang="en-US" sz="1800" dirty="0"/>
          </a:p>
        </p:txBody>
      </p:sp>
      <p:sp>
        <p:nvSpPr>
          <p:cNvPr id="9" name="Text 7"/>
          <p:cNvSpPr/>
          <p:nvPr/>
        </p:nvSpPr>
        <p:spPr>
          <a:xfrm>
            <a:off x="457200" y="3657600"/>
            <a:ext cx="2743200" cy="274320"/>
          </a:xfrm>
          <a:prstGeom prst="rect">
            <a:avLst/>
          </a:prstGeom>
          <a:noFill/>
          <a:ln/>
        </p:spPr>
        <p:txBody>
          <a:bodyPr wrap="square" rtlCol="0" anchor="ctr"/>
          <a:lstStyle/>
          <a:p>
            <a:pPr indent="0" marL="0">
              <a:buNone/>
            </a:pPr>
            <a:r>
              <a:rPr lang="en-US" sz="1300" dirty="0">
                <a:solidFill>
                  <a:srgbClr val="B0C4DE"/>
                </a:solidFill>
                <a:latin typeface="Calibri" pitchFamily="34" charset="0"/>
                <a:ea typeface="Calibri" pitchFamily="34" charset="-122"/>
                <a:cs typeface="Calibri" pitchFamily="34" charset="-120"/>
              </a:rPr>
              <a:t>Presented by:</a:t>
            </a:r>
            <a:endParaRPr lang="en-US" sz="1300" dirty="0"/>
          </a:p>
        </p:txBody>
      </p:sp>
      <p:sp>
        <p:nvSpPr>
          <p:cNvPr id="10" name="Text 8"/>
          <p:cNvSpPr/>
          <p:nvPr/>
        </p:nvSpPr>
        <p:spPr>
          <a:xfrm>
            <a:off x="457200" y="3931920"/>
            <a:ext cx="4572000" cy="411480"/>
          </a:xfrm>
          <a:prstGeom prst="rect">
            <a:avLst/>
          </a:prstGeom>
          <a:noFill/>
          <a:ln/>
        </p:spPr>
        <p:txBody>
          <a:bodyPr wrap="square" rtlCol="0" anchor="ctr"/>
          <a:lstStyle/>
          <a:p>
            <a:pPr indent="0" marL="0">
              <a:buNone/>
            </a:pPr>
            <a:r>
              <a:rPr lang="en-US" sz="2200" b="1" dirty="0">
                <a:solidFill>
                  <a:srgbClr val="00C9A7"/>
                </a:solidFill>
                <a:latin typeface="Calibri" pitchFamily="34" charset="0"/>
                <a:ea typeface="Calibri" pitchFamily="34" charset="-122"/>
                <a:cs typeface="Calibri" pitchFamily="34" charset="-120"/>
              </a:rPr>
              <a:t>Dhanushree N</a:t>
            </a:r>
            <a:endParaRPr lang="en-US" sz="2200" dirty="0"/>
          </a:p>
        </p:txBody>
      </p:sp>
      <p:sp>
        <p:nvSpPr>
          <p:cNvPr id="11" name="Shape 9"/>
          <p:cNvSpPr/>
          <p:nvPr/>
        </p:nvSpPr>
        <p:spPr>
          <a:xfrm>
            <a:off x="0" y="4960620"/>
            <a:ext cx="9144000" cy="182880"/>
          </a:xfrm>
          <a:prstGeom prst="rect">
            <a:avLst/>
          </a:prstGeom>
          <a:solidFill>
            <a:srgbClr val="028090">
              <a:alpha val="60000"/>
            </a:srgbClr>
          </a:solidFill>
          <a:ln w="12700">
            <a:solidFill>
              <a:srgbClr val="028090"/>
            </a:solidFill>
            <a:prstDash val="solid"/>
          </a:ln>
        </p:spPr>
      </p:sp>
      <p:sp>
        <p:nvSpPr>
          <p:cNvPr id="12" name="Text 10"/>
          <p:cNvSpPr/>
          <p:nvPr/>
        </p:nvSpPr>
        <p:spPr>
          <a:xfrm>
            <a:off x="0" y="4937760"/>
            <a:ext cx="9144000" cy="201168"/>
          </a:xfrm>
          <a:prstGeom prst="rect">
            <a:avLst/>
          </a:prstGeom>
          <a:noFill/>
          <a:ln/>
        </p:spPr>
        <p:txBody>
          <a:bodyPr wrap="square" rtlCol="0" anchor="ctr"/>
          <a:lstStyle/>
          <a:p>
            <a:pPr algn="ctr" indent="0" marL="0">
              <a:buNone/>
            </a:pPr>
            <a:r>
              <a:rPr lang="en-US" sz="1000" dirty="0">
                <a:solidFill>
                  <a:srgbClr val="B0C4DE"/>
                </a:solidFill>
                <a:latin typeface="Calibri" pitchFamily="34" charset="0"/>
                <a:ea typeface="Calibri" pitchFamily="34" charset="-122"/>
                <a:cs typeface="Calibri" pitchFamily="34" charset="-120"/>
              </a:rPr>
              <a:t>2026  |  Insurance Analytics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Text 1"/>
          <p:cNvSpPr/>
          <p:nvPr/>
        </p:nvSpPr>
        <p:spPr>
          <a:xfrm>
            <a:off x="365760" y="182880"/>
            <a:ext cx="8229600" cy="502920"/>
          </a:xfrm>
          <a:prstGeom prst="rect">
            <a:avLst/>
          </a:prstGeom>
          <a:noFill/>
          <a:ln/>
        </p:spPr>
        <p:txBody>
          <a:bodyPr wrap="square" rtlCol="0" anchor="ctr"/>
          <a:lstStyle/>
          <a:p>
            <a:pPr indent="0" marL="0">
              <a:buNone/>
            </a:pPr>
            <a:r>
              <a:rPr lang="en-US" sz="2800" b="1" spc="100" kern="0" dirty="0">
                <a:solidFill>
                  <a:srgbClr val="FFFFFF"/>
                </a:solidFill>
                <a:latin typeface="Calibri" pitchFamily="34" charset="0"/>
                <a:ea typeface="Calibri" pitchFamily="34" charset="-122"/>
                <a:cs typeface="Calibri" pitchFamily="34" charset="-120"/>
              </a:rPr>
              <a:t>PROJECT OVERVIEW</a:t>
            </a:r>
            <a:endParaRPr lang="en-US" sz="2800" dirty="0"/>
          </a:p>
        </p:txBody>
      </p:sp>
      <p:sp>
        <p:nvSpPr>
          <p:cNvPr id="4" name="Shape 2"/>
          <p:cNvSpPr/>
          <p:nvPr/>
        </p:nvSpPr>
        <p:spPr>
          <a:xfrm>
            <a:off x="365760" y="685800"/>
            <a:ext cx="8412480" cy="27432"/>
          </a:xfrm>
          <a:prstGeom prst="rect">
            <a:avLst/>
          </a:prstGeom>
          <a:solidFill>
            <a:srgbClr val="028090">
              <a:alpha val="60000"/>
            </a:srgbClr>
          </a:solidFill>
          <a:ln w="12700">
            <a:solidFill>
              <a:srgbClr val="028090"/>
            </a:solidFill>
            <a:prstDash val="solid"/>
          </a:ln>
        </p:spPr>
      </p:sp>
      <p:sp>
        <p:nvSpPr>
          <p:cNvPr id="5" name="Shape 3"/>
          <p:cNvSpPr/>
          <p:nvPr/>
        </p:nvSpPr>
        <p:spPr>
          <a:xfrm>
            <a:off x="274320" y="868680"/>
            <a:ext cx="2834640" cy="3931920"/>
          </a:xfrm>
          <a:prstGeom prst="rect">
            <a:avLst/>
          </a:prstGeom>
          <a:solidFill>
            <a:srgbClr val="0D2137"/>
          </a:solidFill>
          <a:ln/>
          <a:effectLst>
            <a:outerShdw sx="100000" sy="100000" kx="0" ky="0" algn="bl" rotWithShape="0" blurRad="101600" dist="25400" dir="8100000">
              <a:srgbClr val="000000">
                <a:alpha val="30000"/>
              </a:srgbClr>
            </a:outerShdw>
          </a:effectLst>
        </p:spPr>
      </p:sp>
      <p:sp>
        <p:nvSpPr>
          <p:cNvPr id="6" name="Shape 4"/>
          <p:cNvSpPr/>
          <p:nvPr/>
        </p:nvSpPr>
        <p:spPr>
          <a:xfrm>
            <a:off x="274320" y="868680"/>
            <a:ext cx="2834640" cy="64008"/>
          </a:xfrm>
          <a:prstGeom prst="rect">
            <a:avLst/>
          </a:prstGeom>
          <a:solidFill>
            <a:srgbClr val="00C9A7"/>
          </a:solidFill>
          <a:ln w="12700">
            <a:solidFill>
              <a:srgbClr val="00C9A7"/>
            </a:solidFill>
            <a:prstDash val="solid"/>
          </a:ln>
        </p:spPr>
      </p:sp>
      <p:sp>
        <p:nvSpPr>
          <p:cNvPr id="7" name="Text 5"/>
          <p:cNvSpPr/>
          <p:nvPr/>
        </p:nvSpPr>
        <p:spPr>
          <a:xfrm>
            <a:off x="411480" y="1005840"/>
            <a:ext cx="2560320" cy="457200"/>
          </a:xfrm>
          <a:prstGeom prst="rect">
            <a:avLst/>
          </a:prstGeom>
          <a:noFill/>
          <a:ln/>
        </p:spPr>
        <p:txBody>
          <a:bodyPr wrap="square" rtlCol="0" anchor="ctr"/>
          <a:lstStyle/>
          <a:p>
            <a:pPr indent="0" marL="0">
              <a:buNone/>
            </a:pPr>
            <a:r>
              <a:rPr lang="en-US" sz="1600" b="1" dirty="0">
                <a:solidFill>
                  <a:srgbClr val="00C9A7"/>
                </a:solidFill>
                <a:latin typeface="Calibri" pitchFamily="34" charset="0"/>
                <a:ea typeface="Calibri" pitchFamily="34" charset="-122"/>
                <a:cs typeface="Calibri" pitchFamily="34" charset="-120"/>
              </a:rPr>
              <a:t>🎯  Objective</a:t>
            </a:r>
            <a:endParaRPr lang="en-US" sz="1600" dirty="0"/>
          </a:p>
        </p:txBody>
      </p:sp>
      <p:sp>
        <p:nvSpPr>
          <p:cNvPr id="8" name="Text 6"/>
          <p:cNvSpPr/>
          <p:nvPr/>
        </p:nvSpPr>
        <p:spPr>
          <a:xfrm>
            <a:off x="411480" y="1554480"/>
            <a:ext cx="2560320" cy="3017520"/>
          </a:xfrm>
          <a:prstGeom prst="rect">
            <a:avLst/>
          </a:prstGeom>
          <a:noFill/>
          <a:ln/>
        </p:spPr>
        <p:txBody>
          <a:bodyPr wrap="square" rtlCol="0" anchor="t"/>
          <a:lstStyle/>
          <a:p>
            <a:pPr indent="0" marL="0">
              <a:buNone/>
            </a:pPr>
            <a:r>
              <a:rPr lang="en-US" sz="1300" dirty="0">
                <a:solidFill>
                  <a:srgbClr val="B0C4DE"/>
                </a:solidFill>
                <a:latin typeface="Calibri" pitchFamily="34" charset="0"/>
                <a:ea typeface="Calibri" pitchFamily="34" charset="-122"/>
                <a:cs typeface="Calibri" pitchFamily="34" charset="-120"/>
              </a:rPr>
              <a:t>This project looks at car insurance data to understand who makes claims, how much they cost, and what factors lead to higher claims.</a:t>
            </a:r>
            <a:endParaRPr lang="en-US" sz="1300" dirty="0"/>
          </a:p>
        </p:txBody>
      </p:sp>
      <p:sp>
        <p:nvSpPr>
          <p:cNvPr id="9" name="Shape 7"/>
          <p:cNvSpPr/>
          <p:nvPr/>
        </p:nvSpPr>
        <p:spPr>
          <a:xfrm>
            <a:off x="3246120" y="868680"/>
            <a:ext cx="2834640" cy="3931920"/>
          </a:xfrm>
          <a:prstGeom prst="rect">
            <a:avLst/>
          </a:prstGeom>
          <a:solidFill>
            <a:srgbClr val="0D2137"/>
          </a:solidFill>
          <a:ln/>
          <a:effectLst>
            <a:outerShdw sx="100000" sy="100000" kx="0" ky="0" algn="bl" rotWithShape="0" blurRad="101600" dist="25400" dir="8100000">
              <a:srgbClr val="000000">
                <a:alpha val="30000"/>
              </a:srgbClr>
            </a:outerShdw>
          </a:effectLst>
        </p:spPr>
      </p:sp>
      <p:sp>
        <p:nvSpPr>
          <p:cNvPr id="10" name="Shape 8"/>
          <p:cNvSpPr/>
          <p:nvPr/>
        </p:nvSpPr>
        <p:spPr>
          <a:xfrm>
            <a:off x="3246120" y="868680"/>
            <a:ext cx="2834640" cy="64008"/>
          </a:xfrm>
          <a:prstGeom prst="rect">
            <a:avLst/>
          </a:prstGeom>
          <a:solidFill>
            <a:srgbClr val="00C9A7"/>
          </a:solidFill>
          <a:ln w="12700">
            <a:solidFill>
              <a:srgbClr val="00C9A7"/>
            </a:solidFill>
            <a:prstDash val="solid"/>
          </a:ln>
        </p:spPr>
      </p:sp>
      <p:sp>
        <p:nvSpPr>
          <p:cNvPr id="11" name="Text 9"/>
          <p:cNvSpPr/>
          <p:nvPr/>
        </p:nvSpPr>
        <p:spPr>
          <a:xfrm>
            <a:off x="3383280" y="1005840"/>
            <a:ext cx="2560320" cy="457200"/>
          </a:xfrm>
          <a:prstGeom prst="rect">
            <a:avLst/>
          </a:prstGeom>
          <a:noFill/>
          <a:ln/>
        </p:spPr>
        <p:txBody>
          <a:bodyPr wrap="square" rtlCol="0" anchor="ctr"/>
          <a:lstStyle/>
          <a:p>
            <a:pPr indent="0" marL="0">
              <a:buNone/>
            </a:pPr>
            <a:r>
              <a:rPr lang="en-US" sz="1600" b="1" dirty="0">
                <a:solidFill>
                  <a:srgbClr val="00C9A7"/>
                </a:solidFill>
                <a:latin typeface="Calibri" pitchFamily="34" charset="0"/>
                <a:ea typeface="Calibri" pitchFamily="34" charset="-122"/>
                <a:cs typeface="Calibri" pitchFamily="34" charset="-120"/>
              </a:rPr>
              <a:t>📊  Data Source</a:t>
            </a:r>
            <a:endParaRPr lang="en-US" sz="1600" dirty="0"/>
          </a:p>
        </p:txBody>
      </p:sp>
      <p:sp>
        <p:nvSpPr>
          <p:cNvPr id="12" name="Text 10"/>
          <p:cNvSpPr/>
          <p:nvPr/>
        </p:nvSpPr>
        <p:spPr>
          <a:xfrm>
            <a:off x="3383280" y="1554480"/>
            <a:ext cx="2560320" cy="3017520"/>
          </a:xfrm>
          <a:prstGeom prst="rect">
            <a:avLst/>
          </a:prstGeom>
          <a:noFill/>
          <a:ln/>
        </p:spPr>
        <p:txBody>
          <a:bodyPr wrap="square" rtlCol="0" anchor="t"/>
          <a:lstStyle/>
          <a:p>
            <a:pPr indent="0" marL="0">
              <a:buNone/>
            </a:pPr>
            <a:r>
              <a:rPr lang="en-US" sz="1300" dirty="0">
                <a:solidFill>
                  <a:srgbClr val="B0C4DE"/>
                </a:solidFill>
                <a:latin typeface="Calibri" pitchFamily="34" charset="0"/>
                <a:ea typeface="Calibri" pitchFamily="34" charset="-122"/>
                <a:cs typeface="Calibri" pitchFamily="34" charset="-120"/>
              </a:rPr>
              <a:t>The dataset (insurance_data_car) includes details like age, gender, car model, claim amounts, location zone, and education.</a:t>
            </a:r>
            <a:endParaRPr lang="en-US" sz="1300" dirty="0"/>
          </a:p>
        </p:txBody>
      </p:sp>
      <p:sp>
        <p:nvSpPr>
          <p:cNvPr id="13" name="Shape 11"/>
          <p:cNvSpPr/>
          <p:nvPr/>
        </p:nvSpPr>
        <p:spPr>
          <a:xfrm>
            <a:off x="6217920" y="868680"/>
            <a:ext cx="2834640" cy="3931920"/>
          </a:xfrm>
          <a:prstGeom prst="rect">
            <a:avLst/>
          </a:prstGeom>
          <a:solidFill>
            <a:srgbClr val="0D2137"/>
          </a:solidFill>
          <a:ln/>
          <a:effectLst>
            <a:outerShdw sx="100000" sy="100000" kx="0" ky="0" algn="bl" rotWithShape="0" blurRad="101600" dist="25400" dir="8100000">
              <a:srgbClr val="000000">
                <a:alpha val="30000"/>
              </a:srgbClr>
            </a:outerShdw>
          </a:effectLst>
        </p:spPr>
      </p:sp>
      <p:sp>
        <p:nvSpPr>
          <p:cNvPr id="14" name="Shape 12"/>
          <p:cNvSpPr/>
          <p:nvPr/>
        </p:nvSpPr>
        <p:spPr>
          <a:xfrm>
            <a:off x="6217920" y="868680"/>
            <a:ext cx="2834640" cy="64008"/>
          </a:xfrm>
          <a:prstGeom prst="rect">
            <a:avLst/>
          </a:prstGeom>
          <a:solidFill>
            <a:srgbClr val="00C9A7"/>
          </a:solidFill>
          <a:ln w="12700">
            <a:solidFill>
              <a:srgbClr val="00C9A7"/>
            </a:solidFill>
            <a:prstDash val="solid"/>
          </a:ln>
        </p:spPr>
      </p:sp>
      <p:sp>
        <p:nvSpPr>
          <p:cNvPr id="15" name="Text 13"/>
          <p:cNvSpPr/>
          <p:nvPr/>
        </p:nvSpPr>
        <p:spPr>
          <a:xfrm>
            <a:off x="6355080" y="1005840"/>
            <a:ext cx="2560320" cy="457200"/>
          </a:xfrm>
          <a:prstGeom prst="rect">
            <a:avLst/>
          </a:prstGeom>
          <a:noFill/>
          <a:ln/>
        </p:spPr>
        <p:txBody>
          <a:bodyPr wrap="square" rtlCol="0" anchor="ctr"/>
          <a:lstStyle/>
          <a:p>
            <a:pPr indent="0" marL="0">
              <a:buNone/>
            </a:pPr>
            <a:r>
              <a:rPr lang="en-US" sz="1600" b="1" dirty="0">
                <a:solidFill>
                  <a:srgbClr val="00C9A7"/>
                </a:solidFill>
                <a:latin typeface="Calibri" pitchFamily="34" charset="0"/>
                <a:ea typeface="Calibri" pitchFamily="34" charset="-122"/>
                <a:cs typeface="Calibri" pitchFamily="34" charset="-120"/>
              </a:rPr>
              <a:t>⚡  Tool Used</a:t>
            </a:r>
            <a:endParaRPr lang="en-US" sz="1600" dirty="0"/>
          </a:p>
        </p:txBody>
      </p:sp>
      <p:sp>
        <p:nvSpPr>
          <p:cNvPr id="16" name="Text 14"/>
          <p:cNvSpPr/>
          <p:nvPr/>
        </p:nvSpPr>
        <p:spPr>
          <a:xfrm>
            <a:off x="6355080" y="1554480"/>
            <a:ext cx="2560320" cy="3017520"/>
          </a:xfrm>
          <a:prstGeom prst="rect">
            <a:avLst/>
          </a:prstGeom>
          <a:noFill/>
          <a:ln/>
        </p:spPr>
        <p:txBody>
          <a:bodyPr wrap="square" rtlCol="0" anchor="t"/>
          <a:lstStyle/>
          <a:p>
            <a:pPr indent="0" marL="0">
              <a:buNone/>
            </a:pPr>
            <a:r>
              <a:rPr lang="en-US" sz="1300" dirty="0">
                <a:solidFill>
                  <a:srgbClr val="B0C4DE"/>
                </a:solidFill>
                <a:latin typeface="Calibri" pitchFamily="34" charset="0"/>
                <a:ea typeface="Calibri" pitchFamily="34" charset="-122"/>
                <a:cs typeface="Calibri" pitchFamily="34" charset="-120"/>
              </a:rPr>
              <a:t>Microsoft Power BI was used to build the dashboard with custom DAX formulas for age groups, gender counts, and totals.</a:t>
            </a:r>
            <a:endParaRPr lang="en-US" sz="1300" dirty="0"/>
          </a:p>
        </p:txBody>
      </p:sp>
      <p:sp>
        <p:nvSpPr>
          <p:cNvPr id="17" name="Shape 15"/>
          <p:cNvSpPr/>
          <p:nvPr/>
        </p:nvSpPr>
        <p:spPr>
          <a:xfrm>
            <a:off x="0" y="4960620"/>
            <a:ext cx="9144000" cy="182880"/>
          </a:xfrm>
          <a:prstGeom prst="rect">
            <a:avLst/>
          </a:prstGeom>
          <a:solidFill>
            <a:srgbClr val="028090">
              <a:alpha val="60000"/>
            </a:srgbClr>
          </a:solidFill>
          <a:ln w="12700">
            <a:solidFill>
              <a:srgbClr val="028090"/>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Text 1"/>
          <p:cNvSpPr/>
          <p:nvPr/>
        </p:nvSpPr>
        <p:spPr>
          <a:xfrm>
            <a:off x="365760" y="182880"/>
            <a:ext cx="8229600" cy="502920"/>
          </a:xfrm>
          <a:prstGeom prst="rect">
            <a:avLst/>
          </a:prstGeom>
          <a:noFill/>
          <a:ln/>
        </p:spPr>
        <p:txBody>
          <a:bodyPr wrap="square" rtlCol="0" anchor="ctr"/>
          <a:lstStyle/>
          <a:p>
            <a:pPr indent="0" marL="0">
              <a:buNone/>
            </a:pPr>
            <a:r>
              <a:rPr lang="en-US" sz="2800" b="1" spc="100" kern="0" dirty="0">
                <a:solidFill>
                  <a:srgbClr val="FFFFFF"/>
                </a:solidFill>
                <a:latin typeface="Calibri" pitchFamily="34" charset="0"/>
                <a:ea typeface="Calibri" pitchFamily="34" charset="-122"/>
                <a:cs typeface="Calibri" pitchFamily="34" charset="-120"/>
              </a:rPr>
              <a:t>KEY METRICS AT A GLANCE</a:t>
            </a:r>
            <a:endParaRPr lang="en-US" sz="2800" dirty="0"/>
          </a:p>
        </p:txBody>
      </p:sp>
      <p:sp>
        <p:nvSpPr>
          <p:cNvPr id="4" name="Shape 2"/>
          <p:cNvSpPr/>
          <p:nvPr/>
        </p:nvSpPr>
        <p:spPr>
          <a:xfrm>
            <a:off x="365760" y="685800"/>
            <a:ext cx="8412480" cy="27432"/>
          </a:xfrm>
          <a:prstGeom prst="rect">
            <a:avLst/>
          </a:prstGeom>
          <a:solidFill>
            <a:srgbClr val="028090">
              <a:alpha val="60000"/>
            </a:srgbClr>
          </a:solidFill>
          <a:ln w="12700">
            <a:solidFill>
              <a:srgbClr val="028090"/>
            </a:solidFill>
            <a:prstDash val="solid"/>
          </a:ln>
        </p:spPr>
      </p:sp>
      <p:sp>
        <p:nvSpPr>
          <p:cNvPr id="5" name="Shape 3"/>
          <p:cNvSpPr/>
          <p:nvPr/>
        </p:nvSpPr>
        <p:spPr>
          <a:xfrm>
            <a:off x="228600" y="822960"/>
            <a:ext cx="2834640" cy="1691640"/>
          </a:xfrm>
          <a:prstGeom prst="rect">
            <a:avLst/>
          </a:prstGeom>
          <a:solidFill>
            <a:srgbClr val="0D2137"/>
          </a:solidFill>
          <a:ln/>
          <a:effectLst>
            <a:outerShdw sx="100000" sy="100000" kx="0" ky="0" algn="bl" rotWithShape="0" blurRad="76200" dist="25400" dir="8100000">
              <a:srgbClr val="000000">
                <a:alpha val="25000"/>
              </a:srgbClr>
            </a:outerShdw>
          </a:effectLst>
        </p:spPr>
      </p:sp>
      <p:sp>
        <p:nvSpPr>
          <p:cNvPr id="6" name="Shape 4"/>
          <p:cNvSpPr/>
          <p:nvPr/>
        </p:nvSpPr>
        <p:spPr>
          <a:xfrm>
            <a:off x="228600" y="822960"/>
            <a:ext cx="64008" cy="1691640"/>
          </a:xfrm>
          <a:prstGeom prst="rect">
            <a:avLst/>
          </a:prstGeom>
          <a:solidFill>
            <a:srgbClr val="00C9A7"/>
          </a:solidFill>
          <a:ln w="12700">
            <a:solidFill>
              <a:srgbClr val="00C9A7"/>
            </a:solidFill>
            <a:prstDash val="solid"/>
          </a:ln>
        </p:spPr>
      </p:sp>
      <p:sp>
        <p:nvSpPr>
          <p:cNvPr id="7" name="Text 5"/>
          <p:cNvSpPr/>
          <p:nvPr/>
        </p:nvSpPr>
        <p:spPr>
          <a:xfrm>
            <a:off x="411480" y="1005840"/>
            <a:ext cx="2468880" cy="685800"/>
          </a:xfrm>
          <a:prstGeom prst="rect">
            <a:avLst/>
          </a:prstGeom>
          <a:noFill/>
          <a:ln/>
        </p:spPr>
        <p:txBody>
          <a:bodyPr wrap="square" rtlCol="0" anchor="ctr"/>
          <a:lstStyle/>
          <a:p>
            <a:pPr indent="0" marL="0">
              <a:buNone/>
            </a:pPr>
            <a:r>
              <a:rPr lang="en-US" sz="3200" b="1" dirty="0">
                <a:solidFill>
                  <a:srgbClr val="00C9A7"/>
                </a:solidFill>
                <a:latin typeface="Calibri" pitchFamily="34" charset="0"/>
                <a:ea typeface="Calibri" pitchFamily="34" charset="-122"/>
                <a:cs typeface="Calibri" pitchFamily="34" charset="-120"/>
              </a:rPr>
              <a:t>37,542</a:t>
            </a:r>
            <a:endParaRPr lang="en-US" sz="3200" dirty="0"/>
          </a:p>
        </p:txBody>
      </p:sp>
      <p:sp>
        <p:nvSpPr>
          <p:cNvPr id="8" name="Text 6"/>
          <p:cNvSpPr/>
          <p:nvPr/>
        </p:nvSpPr>
        <p:spPr>
          <a:xfrm>
            <a:off x="411480" y="1645920"/>
            <a:ext cx="24688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Total Policies</a:t>
            </a:r>
            <a:endParaRPr lang="en-US" sz="1400" dirty="0"/>
          </a:p>
        </p:txBody>
      </p:sp>
      <p:sp>
        <p:nvSpPr>
          <p:cNvPr id="9" name="Text 7"/>
          <p:cNvSpPr/>
          <p:nvPr/>
        </p:nvSpPr>
        <p:spPr>
          <a:xfrm>
            <a:off x="411480" y="1965960"/>
            <a:ext cx="2468880" cy="274320"/>
          </a:xfrm>
          <a:prstGeom prst="rect">
            <a:avLst/>
          </a:prstGeom>
          <a:noFill/>
          <a:ln/>
        </p:spPr>
        <p:txBody>
          <a:bodyPr wrap="square" rtlCol="0" anchor="ctr"/>
          <a:lstStyle/>
          <a:p>
            <a:pPr indent="0" marL="0">
              <a:buNone/>
            </a:pPr>
            <a:r>
              <a:rPr lang="en-US" sz="1100" dirty="0">
                <a:solidFill>
                  <a:srgbClr val="B0C4DE"/>
                </a:solidFill>
                <a:latin typeface="Calibri" pitchFamily="34" charset="0"/>
                <a:ea typeface="Calibri" pitchFamily="34" charset="-122"/>
                <a:cs typeface="Calibri" pitchFamily="34" charset="-120"/>
              </a:rPr>
              <a:t>Total number of insured customers</a:t>
            </a:r>
            <a:endParaRPr lang="en-US" sz="1100" dirty="0"/>
          </a:p>
        </p:txBody>
      </p:sp>
      <p:sp>
        <p:nvSpPr>
          <p:cNvPr id="10" name="Shape 8"/>
          <p:cNvSpPr/>
          <p:nvPr/>
        </p:nvSpPr>
        <p:spPr>
          <a:xfrm>
            <a:off x="3291840" y="822960"/>
            <a:ext cx="2834640" cy="1691640"/>
          </a:xfrm>
          <a:prstGeom prst="rect">
            <a:avLst/>
          </a:prstGeom>
          <a:solidFill>
            <a:srgbClr val="0D2137"/>
          </a:solidFill>
          <a:ln/>
          <a:effectLst>
            <a:outerShdw sx="100000" sy="100000" kx="0" ky="0" algn="bl" rotWithShape="0" blurRad="76200" dist="25400" dir="8100000">
              <a:srgbClr val="000000">
                <a:alpha val="25000"/>
              </a:srgbClr>
            </a:outerShdw>
          </a:effectLst>
        </p:spPr>
      </p:sp>
      <p:sp>
        <p:nvSpPr>
          <p:cNvPr id="11" name="Shape 9"/>
          <p:cNvSpPr/>
          <p:nvPr/>
        </p:nvSpPr>
        <p:spPr>
          <a:xfrm>
            <a:off x="3291840" y="822960"/>
            <a:ext cx="64008" cy="1691640"/>
          </a:xfrm>
          <a:prstGeom prst="rect">
            <a:avLst/>
          </a:prstGeom>
          <a:solidFill>
            <a:srgbClr val="00C9A7"/>
          </a:solidFill>
          <a:ln w="12700">
            <a:solidFill>
              <a:srgbClr val="00C9A7"/>
            </a:solidFill>
            <a:prstDash val="solid"/>
          </a:ln>
        </p:spPr>
      </p:sp>
      <p:sp>
        <p:nvSpPr>
          <p:cNvPr id="12" name="Text 10"/>
          <p:cNvSpPr/>
          <p:nvPr/>
        </p:nvSpPr>
        <p:spPr>
          <a:xfrm>
            <a:off x="3474720" y="1005840"/>
            <a:ext cx="2468880" cy="685800"/>
          </a:xfrm>
          <a:prstGeom prst="rect">
            <a:avLst/>
          </a:prstGeom>
          <a:noFill/>
          <a:ln/>
        </p:spPr>
        <p:txBody>
          <a:bodyPr wrap="square" rtlCol="0" anchor="ctr"/>
          <a:lstStyle/>
          <a:p>
            <a:pPr indent="0" marL="0">
              <a:buNone/>
            </a:pPr>
            <a:r>
              <a:rPr lang="en-US" sz="3200" b="1" dirty="0">
                <a:solidFill>
                  <a:srgbClr val="00C9A7"/>
                </a:solidFill>
                <a:latin typeface="Calibri" pitchFamily="34" charset="0"/>
                <a:ea typeface="Calibri" pitchFamily="34" charset="-122"/>
                <a:cs typeface="Calibri" pitchFamily="34" charset="-120"/>
              </a:rPr>
              <a:t>$187.8M</a:t>
            </a:r>
            <a:endParaRPr lang="en-US" sz="3200" dirty="0"/>
          </a:p>
        </p:txBody>
      </p:sp>
      <p:sp>
        <p:nvSpPr>
          <p:cNvPr id="13" name="Text 11"/>
          <p:cNvSpPr/>
          <p:nvPr/>
        </p:nvSpPr>
        <p:spPr>
          <a:xfrm>
            <a:off x="3474720" y="1645920"/>
            <a:ext cx="24688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Total Claim Amount</a:t>
            </a:r>
            <a:endParaRPr lang="en-US" sz="1400" dirty="0"/>
          </a:p>
        </p:txBody>
      </p:sp>
      <p:sp>
        <p:nvSpPr>
          <p:cNvPr id="14" name="Text 12"/>
          <p:cNvSpPr/>
          <p:nvPr/>
        </p:nvSpPr>
        <p:spPr>
          <a:xfrm>
            <a:off x="3474720" y="1965960"/>
            <a:ext cx="2468880" cy="274320"/>
          </a:xfrm>
          <a:prstGeom prst="rect">
            <a:avLst/>
          </a:prstGeom>
          <a:noFill/>
          <a:ln/>
        </p:spPr>
        <p:txBody>
          <a:bodyPr wrap="square" rtlCol="0" anchor="ctr"/>
          <a:lstStyle/>
          <a:p>
            <a:pPr indent="0" marL="0">
              <a:buNone/>
            </a:pPr>
            <a:r>
              <a:rPr lang="en-US" sz="1100" dirty="0">
                <a:solidFill>
                  <a:srgbClr val="B0C4DE"/>
                </a:solidFill>
                <a:latin typeface="Calibri" pitchFamily="34" charset="0"/>
                <a:ea typeface="Calibri" pitchFamily="34" charset="-122"/>
                <a:cs typeface="Calibri" pitchFamily="34" charset="-120"/>
              </a:rPr>
              <a:t>Total money paid out in claims</a:t>
            </a:r>
            <a:endParaRPr lang="en-US" sz="1100" dirty="0"/>
          </a:p>
        </p:txBody>
      </p:sp>
      <p:sp>
        <p:nvSpPr>
          <p:cNvPr id="15" name="Shape 13"/>
          <p:cNvSpPr/>
          <p:nvPr/>
        </p:nvSpPr>
        <p:spPr>
          <a:xfrm>
            <a:off x="6355080" y="822960"/>
            <a:ext cx="2834640" cy="1691640"/>
          </a:xfrm>
          <a:prstGeom prst="rect">
            <a:avLst/>
          </a:prstGeom>
          <a:solidFill>
            <a:srgbClr val="0D2137"/>
          </a:solidFill>
          <a:ln/>
          <a:effectLst>
            <a:outerShdw sx="100000" sy="100000" kx="0" ky="0" algn="bl" rotWithShape="0" blurRad="76200" dist="25400" dir="8100000">
              <a:srgbClr val="000000">
                <a:alpha val="25000"/>
              </a:srgbClr>
            </a:outerShdw>
          </a:effectLst>
        </p:spPr>
      </p:sp>
      <p:sp>
        <p:nvSpPr>
          <p:cNvPr id="16" name="Shape 14"/>
          <p:cNvSpPr/>
          <p:nvPr/>
        </p:nvSpPr>
        <p:spPr>
          <a:xfrm>
            <a:off x="6355080" y="822960"/>
            <a:ext cx="64008" cy="1691640"/>
          </a:xfrm>
          <a:prstGeom prst="rect">
            <a:avLst/>
          </a:prstGeom>
          <a:solidFill>
            <a:srgbClr val="00C9A7"/>
          </a:solidFill>
          <a:ln w="12700">
            <a:solidFill>
              <a:srgbClr val="00C9A7"/>
            </a:solidFill>
            <a:prstDash val="solid"/>
          </a:ln>
        </p:spPr>
      </p:sp>
      <p:sp>
        <p:nvSpPr>
          <p:cNvPr id="17" name="Text 15"/>
          <p:cNvSpPr/>
          <p:nvPr/>
        </p:nvSpPr>
        <p:spPr>
          <a:xfrm>
            <a:off x="6537960" y="1005840"/>
            <a:ext cx="2468880" cy="685800"/>
          </a:xfrm>
          <a:prstGeom prst="rect">
            <a:avLst/>
          </a:prstGeom>
          <a:noFill/>
          <a:ln/>
        </p:spPr>
        <p:txBody>
          <a:bodyPr wrap="square" rtlCol="0" anchor="ctr"/>
          <a:lstStyle/>
          <a:p>
            <a:pPr indent="0" marL="0">
              <a:buNone/>
            </a:pPr>
            <a:r>
              <a:rPr lang="en-US" sz="3200" b="1" dirty="0">
                <a:solidFill>
                  <a:srgbClr val="00C9A7"/>
                </a:solidFill>
                <a:latin typeface="Calibri" pitchFamily="34" charset="0"/>
                <a:ea typeface="Calibri" pitchFamily="34" charset="-122"/>
                <a:cs typeface="Calibri" pitchFamily="34" charset="-120"/>
              </a:rPr>
              <a:t>0.51</a:t>
            </a:r>
            <a:endParaRPr lang="en-US" sz="3200" dirty="0"/>
          </a:p>
        </p:txBody>
      </p:sp>
      <p:sp>
        <p:nvSpPr>
          <p:cNvPr id="18" name="Text 16"/>
          <p:cNvSpPr/>
          <p:nvPr/>
        </p:nvSpPr>
        <p:spPr>
          <a:xfrm>
            <a:off x="6537960" y="1645920"/>
            <a:ext cx="24688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Avg Claim Frequency</a:t>
            </a:r>
            <a:endParaRPr lang="en-US" sz="1400" dirty="0"/>
          </a:p>
        </p:txBody>
      </p:sp>
      <p:sp>
        <p:nvSpPr>
          <p:cNvPr id="19" name="Text 17"/>
          <p:cNvSpPr/>
          <p:nvPr/>
        </p:nvSpPr>
        <p:spPr>
          <a:xfrm>
            <a:off x="6537960" y="1965960"/>
            <a:ext cx="2468880" cy="274320"/>
          </a:xfrm>
          <a:prstGeom prst="rect">
            <a:avLst/>
          </a:prstGeom>
          <a:noFill/>
          <a:ln/>
        </p:spPr>
        <p:txBody>
          <a:bodyPr wrap="square" rtlCol="0" anchor="ctr"/>
          <a:lstStyle/>
          <a:p>
            <a:pPr indent="0" marL="0">
              <a:buNone/>
            </a:pPr>
            <a:r>
              <a:rPr lang="en-US" sz="1100" dirty="0">
                <a:solidFill>
                  <a:srgbClr val="B0C4DE"/>
                </a:solidFill>
                <a:latin typeface="Calibri" pitchFamily="34" charset="0"/>
                <a:ea typeface="Calibri" pitchFamily="34" charset="-122"/>
                <a:cs typeface="Calibri" pitchFamily="34" charset="-120"/>
              </a:rPr>
              <a:t>On average, how often claims happen</a:t>
            </a:r>
            <a:endParaRPr lang="en-US" sz="1100" dirty="0"/>
          </a:p>
        </p:txBody>
      </p:sp>
      <p:sp>
        <p:nvSpPr>
          <p:cNvPr id="20" name="Shape 18"/>
          <p:cNvSpPr/>
          <p:nvPr/>
        </p:nvSpPr>
        <p:spPr>
          <a:xfrm>
            <a:off x="228600" y="2834640"/>
            <a:ext cx="2834640" cy="1691640"/>
          </a:xfrm>
          <a:prstGeom prst="rect">
            <a:avLst/>
          </a:prstGeom>
          <a:solidFill>
            <a:srgbClr val="0D2137"/>
          </a:solidFill>
          <a:ln/>
          <a:effectLst>
            <a:outerShdw sx="100000" sy="100000" kx="0" ky="0" algn="bl" rotWithShape="0" blurRad="76200" dist="25400" dir="8100000">
              <a:srgbClr val="000000">
                <a:alpha val="25000"/>
              </a:srgbClr>
            </a:outerShdw>
          </a:effectLst>
        </p:spPr>
      </p:sp>
      <p:sp>
        <p:nvSpPr>
          <p:cNvPr id="21" name="Shape 19"/>
          <p:cNvSpPr/>
          <p:nvPr/>
        </p:nvSpPr>
        <p:spPr>
          <a:xfrm>
            <a:off x="228600" y="2834640"/>
            <a:ext cx="64008" cy="1691640"/>
          </a:xfrm>
          <a:prstGeom prst="rect">
            <a:avLst/>
          </a:prstGeom>
          <a:solidFill>
            <a:srgbClr val="00C9A7"/>
          </a:solidFill>
          <a:ln w="12700">
            <a:solidFill>
              <a:srgbClr val="00C9A7"/>
            </a:solidFill>
            <a:prstDash val="solid"/>
          </a:ln>
        </p:spPr>
      </p:sp>
      <p:sp>
        <p:nvSpPr>
          <p:cNvPr id="22" name="Text 20"/>
          <p:cNvSpPr/>
          <p:nvPr/>
        </p:nvSpPr>
        <p:spPr>
          <a:xfrm>
            <a:off x="411480" y="3017520"/>
            <a:ext cx="2468880" cy="685800"/>
          </a:xfrm>
          <a:prstGeom prst="rect">
            <a:avLst/>
          </a:prstGeom>
          <a:noFill/>
          <a:ln/>
        </p:spPr>
        <p:txBody>
          <a:bodyPr wrap="square" rtlCol="0" anchor="ctr"/>
          <a:lstStyle/>
          <a:p>
            <a:pPr indent="0" marL="0">
              <a:buNone/>
            </a:pPr>
            <a:r>
              <a:rPr lang="en-US" sz="3200" b="1" dirty="0">
                <a:solidFill>
                  <a:srgbClr val="00C9A7"/>
                </a:solidFill>
                <a:latin typeface="Calibri" pitchFamily="34" charset="0"/>
                <a:ea typeface="Calibri" pitchFamily="34" charset="-122"/>
                <a:cs typeface="Calibri" pitchFamily="34" charset="-120"/>
              </a:rPr>
              <a:t>$5.0K</a:t>
            </a:r>
            <a:endParaRPr lang="en-US" sz="3200" dirty="0"/>
          </a:p>
        </p:txBody>
      </p:sp>
      <p:sp>
        <p:nvSpPr>
          <p:cNvPr id="23" name="Text 21"/>
          <p:cNvSpPr/>
          <p:nvPr/>
        </p:nvSpPr>
        <p:spPr>
          <a:xfrm>
            <a:off x="411480" y="3657600"/>
            <a:ext cx="24688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Avg Claim Amount</a:t>
            </a:r>
            <a:endParaRPr lang="en-US" sz="1400" dirty="0"/>
          </a:p>
        </p:txBody>
      </p:sp>
      <p:sp>
        <p:nvSpPr>
          <p:cNvPr id="24" name="Text 22"/>
          <p:cNvSpPr/>
          <p:nvPr/>
        </p:nvSpPr>
        <p:spPr>
          <a:xfrm>
            <a:off x="411480" y="3977640"/>
            <a:ext cx="2468880" cy="274320"/>
          </a:xfrm>
          <a:prstGeom prst="rect">
            <a:avLst/>
          </a:prstGeom>
          <a:noFill/>
          <a:ln/>
        </p:spPr>
        <p:txBody>
          <a:bodyPr wrap="square" rtlCol="0" anchor="ctr"/>
          <a:lstStyle/>
          <a:p>
            <a:pPr indent="0" marL="0">
              <a:buNone/>
            </a:pPr>
            <a:r>
              <a:rPr lang="en-US" sz="1100" dirty="0">
                <a:solidFill>
                  <a:srgbClr val="B0C4DE"/>
                </a:solidFill>
                <a:latin typeface="Calibri" pitchFamily="34" charset="0"/>
                <a:ea typeface="Calibri" pitchFamily="34" charset="-122"/>
                <a:cs typeface="Calibri" pitchFamily="34" charset="-120"/>
              </a:rPr>
              <a:t>Average amount per claim</a:t>
            </a:r>
            <a:endParaRPr lang="en-US" sz="1100" dirty="0"/>
          </a:p>
        </p:txBody>
      </p:sp>
      <p:sp>
        <p:nvSpPr>
          <p:cNvPr id="25" name="Shape 23"/>
          <p:cNvSpPr/>
          <p:nvPr/>
        </p:nvSpPr>
        <p:spPr>
          <a:xfrm>
            <a:off x="3291840" y="2834640"/>
            <a:ext cx="2834640" cy="1691640"/>
          </a:xfrm>
          <a:prstGeom prst="rect">
            <a:avLst/>
          </a:prstGeom>
          <a:solidFill>
            <a:srgbClr val="0D2137"/>
          </a:solidFill>
          <a:ln/>
          <a:effectLst>
            <a:outerShdw sx="100000" sy="100000" kx="0" ky="0" algn="bl" rotWithShape="0" blurRad="76200" dist="25400" dir="8100000">
              <a:srgbClr val="000000">
                <a:alpha val="25000"/>
              </a:srgbClr>
            </a:outerShdw>
          </a:effectLst>
        </p:spPr>
      </p:sp>
      <p:sp>
        <p:nvSpPr>
          <p:cNvPr id="26" name="Shape 24"/>
          <p:cNvSpPr/>
          <p:nvPr/>
        </p:nvSpPr>
        <p:spPr>
          <a:xfrm>
            <a:off x="3291840" y="2834640"/>
            <a:ext cx="64008" cy="1691640"/>
          </a:xfrm>
          <a:prstGeom prst="rect">
            <a:avLst/>
          </a:prstGeom>
          <a:solidFill>
            <a:srgbClr val="00C9A7"/>
          </a:solidFill>
          <a:ln w="12700">
            <a:solidFill>
              <a:srgbClr val="00C9A7"/>
            </a:solidFill>
            <a:prstDash val="solid"/>
          </a:ln>
        </p:spPr>
      </p:sp>
      <p:sp>
        <p:nvSpPr>
          <p:cNvPr id="27" name="Text 25"/>
          <p:cNvSpPr/>
          <p:nvPr/>
        </p:nvSpPr>
        <p:spPr>
          <a:xfrm>
            <a:off x="3474720" y="3017520"/>
            <a:ext cx="2468880" cy="685800"/>
          </a:xfrm>
          <a:prstGeom prst="rect">
            <a:avLst/>
          </a:prstGeom>
          <a:noFill/>
          <a:ln/>
        </p:spPr>
        <p:txBody>
          <a:bodyPr wrap="square" rtlCol="0" anchor="ctr"/>
          <a:lstStyle/>
          <a:p>
            <a:pPr indent="0" marL="0">
              <a:buNone/>
            </a:pPr>
            <a:r>
              <a:rPr lang="en-US" sz="3200" b="1" dirty="0">
                <a:solidFill>
                  <a:srgbClr val="00C9A7"/>
                </a:solidFill>
                <a:latin typeface="Calibri" pitchFamily="34" charset="0"/>
                <a:ea typeface="Calibri" pitchFamily="34" charset="-122"/>
                <a:cs typeface="Calibri" pitchFamily="34" charset="-120"/>
              </a:rPr>
              <a:t>18.7K</a:t>
            </a:r>
            <a:endParaRPr lang="en-US" sz="3200" dirty="0"/>
          </a:p>
        </p:txBody>
      </p:sp>
      <p:sp>
        <p:nvSpPr>
          <p:cNvPr id="28" name="Text 26"/>
          <p:cNvSpPr/>
          <p:nvPr/>
        </p:nvSpPr>
        <p:spPr>
          <a:xfrm>
            <a:off x="3474720" y="3657600"/>
            <a:ext cx="24688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Male Policyholders</a:t>
            </a:r>
            <a:endParaRPr lang="en-US" sz="1400" dirty="0"/>
          </a:p>
        </p:txBody>
      </p:sp>
      <p:sp>
        <p:nvSpPr>
          <p:cNvPr id="29" name="Text 27"/>
          <p:cNvSpPr/>
          <p:nvPr/>
        </p:nvSpPr>
        <p:spPr>
          <a:xfrm>
            <a:off x="3474720" y="3977640"/>
            <a:ext cx="2468880" cy="274320"/>
          </a:xfrm>
          <a:prstGeom prst="rect">
            <a:avLst/>
          </a:prstGeom>
          <a:noFill/>
          <a:ln/>
        </p:spPr>
        <p:txBody>
          <a:bodyPr wrap="square" rtlCol="0" anchor="ctr"/>
          <a:lstStyle/>
          <a:p>
            <a:pPr indent="0" marL="0">
              <a:buNone/>
            </a:pPr>
            <a:r>
              <a:rPr lang="en-US" sz="1100" dirty="0">
                <a:solidFill>
                  <a:srgbClr val="B0C4DE"/>
                </a:solidFill>
                <a:latin typeface="Calibri" pitchFamily="34" charset="0"/>
                <a:ea typeface="Calibri" pitchFamily="34" charset="-122"/>
                <a:cs typeface="Calibri" pitchFamily="34" charset="-120"/>
              </a:rPr>
              <a:t>Total male customers</a:t>
            </a:r>
            <a:endParaRPr lang="en-US" sz="1100" dirty="0"/>
          </a:p>
        </p:txBody>
      </p:sp>
      <p:sp>
        <p:nvSpPr>
          <p:cNvPr id="30" name="Shape 28"/>
          <p:cNvSpPr/>
          <p:nvPr/>
        </p:nvSpPr>
        <p:spPr>
          <a:xfrm>
            <a:off x="6355080" y="2834640"/>
            <a:ext cx="2834640" cy="1691640"/>
          </a:xfrm>
          <a:prstGeom prst="rect">
            <a:avLst/>
          </a:prstGeom>
          <a:solidFill>
            <a:srgbClr val="0D2137"/>
          </a:solidFill>
          <a:ln/>
          <a:effectLst>
            <a:outerShdw sx="100000" sy="100000" kx="0" ky="0" algn="bl" rotWithShape="0" blurRad="76200" dist="25400" dir="8100000">
              <a:srgbClr val="000000">
                <a:alpha val="25000"/>
              </a:srgbClr>
            </a:outerShdw>
          </a:effectLst>
        </p:spPr>
      </p:sp>
      <p:sp>
        <p:nvSpPr>
          <p:cNvPr id="31" name="Shape 29"/>
          <p:cNvSpPr/>
          <p:nvPr/>
        </p:nvSpPr>
        <p:spPr>
          <a:xfrm>
            <a:off x="6355080" y="2834640"/>
            <a:ext cx="64008" cy="1691640"/>
          </a:xfrm>
          <a:prstGeom prst="rect">
            <a:avLst/>
          </a:prstGeom>
          <a:solidFill>
            <a:srgbClr val="00C9A7"/>
          </a:solidFill>
          <a:ln w="12700">
            <a:solidFill>
              <a:srgbClr val="00C9A7"/>
            </a:solidFill>
            <a:prstDash val="solid"/>
          </a:ln>
        </p:spPr>
      </p:sp>
      <p:sp>
        <p:nvSpPr>
          <p:cNvPr id="32" name="Text 30"/>
          <p:cNvSpPr/>
          <p:nvPr/>
        </p:nvSpPr>
        <p:spPr>
          <a:xfrm>
            <a:off x="6537960" y="3017520"/>
            <a:ext cx="2468880" cy="685800"/>
          </a:xfrm>
          <a:prstGeom prst="rect">
            <a:avLst/>
          </a:prstGeom>
          <a:noFill/>
          <a:ln/>
        </p:spPr>
        <p:txBody>
          <a:bodyPr wrap="square" rtlCol="0" anchor="ctr"/>
          <a:lstStyle/>
          <a:p>
            <a:pPr indent="0" marL="0">
              <a:buNone/>
            </a:pPr>
            <a:r>
              <a:rPr lang="en-US" sz="3200" b="1" dirty="0">
                <a:solidFill>
                  <a:srgbClr val="00C9A7"/>
                </a:solidFill>
                <a:latin typeface="Calibri" pitchFamily="34" charset="0"/>
                <a:ea typeface="Calibri" pitchFamily="34" charset="-122"/>
                <a:cs typeface="Calibri" pitchFamily="34" charset="-120"/>
              </a:rPr>
              <a:t>18.8K</a:t>
            </a:r>
            <a:endParaRPr lang="en-US" sz="3200" dirty="0"/>
          </a:p>
        </p:txBody>
      </p:sp>
      <p:sp>
        <p:nvSpPr>
          <p:cNvPr id="33" name="Text 31"/>
          <p:cNvSpPr/>
          <p:nvPr/>
        </p:nvSpPr>
        <p:spPr>
          <a:xfrm>
            <a:off x="6537960" y="3657600"/>
            <a:ext cx="24688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Female Policyholders</a:t>
            </a:r>
            <a:endParaRPr lang="en-US" sz="1400" dirty="0"/>
          </a:p>
        </p:txBody>
      </p:sp>
      <p:sp>
        <p:nvSpPr>
          <p:cNvPr id="34" name="Text 32"/>
          <p:cNvSpPr/>
          <p:nvPr/>
        </p:nvSpPr>
        <p:spPr>
          <a:xfrm>
            <a:off x="6537960" y="3977640"/>
            <a:ext cx="2468880" cy="274320"/>
          </a:xfrm>
          <a:prstGeom prst="rect">
            <a:avLst/>
          </a:prstGeom>
          <a:noFill/>
          <a:ln/>
        </p:spPr>
        <p:txBody>
          <a:bodyPr wrap="square" rtlCol="0" anchor="ctr"/>
          <a:lstStyle/>
          <a:p>
            <a:pPr indent="0" marL="0">
              <a:buNone/>
            </a:pPr>
            <a:r>
              <a:rPr lang="en-US" sz="1100" dirty="0">
                <a:solidFill>
                  <a:srgbClr val="B0C4DE"/>
                </a:solidFill>
                <a:latin typeface="Calibri" pitchFamily="34" charset="0"/>
                <a:ea typeface="Calibri" pitchFamily="34" charset="-122"/>
                <a:cs typeface="Calibri" pitchFamily="34" charset="-120"/>
              </a:rPr>
              <a:t>Total female customers</a:t>
            </a:r>
            <a:endParaRPr lang="en-US" sz="1100" dirty="0"/>
          </a:p>
        </p:txBody>
      </p:sp>
      <p:sp>
        <p:nvSpPr>
          <p:cNvPr id="35" name="Shape 33"/>
          <p:cNvSpPr/>
          <p:nvPr/>
        </p:nvSpPr>
        <p:spPr>
          <a:xfrm>
            <a:off x="0" y="4960620"/>
            <a:ext cx="9144000" cy="182880"/>
          </a:xfrm>
          <a:prstGeom prst="rect">
            <a:avLst/>
          </a:prstGeom>
          <a:solidFill>
            <a:srgbClr val="028090">
              <a:alpha val="60000"/>
            </a:srgbClr>
          </a:solidFill>
          <a:ln w="12700">
            <a:solidFill>
              <a:srgbClr val="028090"/>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Text 1"/>
          <p:cNvSpPr/>
          <p:nvPr/>
        </p:nvSpPr>
        <p:spPr>
          <a:xfrm>
            <a:off x="365760" y="137160"/>
            <a:ext cx="8229600" cy="4572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CLAIMS BY CAR MAKE &amp; CAR USE</a:t>
            </a:r>
            <a:endParaRPr lang="en-US" sz="2600" dirty="0"/>
          </a:p>
        </p:txBody>
      </p:sp>
      <p:sp>
        <p:nvSpPr>
          <p:cNvPr id="4" name="Shape 2"/>
          <p:cNvSpPr/>
          <p:nvPr/>
        </p:nvSpPr>
        <p:spPr>
          <a:xfrm>
            <a:off x="365760" y="594360"/>
            <a:ext cx="8412480" cy="27432"/>
          </a:xfrm>
          <a:prstGeom prst="rect">
            <a:avLst/>
          </a:prstGeom>
          <a:solidFill>
            <a:srgbClr val="028090">
              <a:alpha val="60000"/>
            </a:srgbClr>
          </a:solidFill>
          <a:ln w="12700">
            <a:solidFill>
              <a:srgbClr val="028090"/>
            </a:solidFill>
            <a:prstDash val="solid"/>
          </a:ln>
        </p:spPr>
      </p:sp>
      <p:pic>
        <p:nvPicPr>
          <p:cNvPr id="5" name="Image 0" descr="/home/claude/chart_carmake.jpg">    </p:cNvPr>
          <p:cNvPicPr>
            <a:picLocks noChangeAspect="1"/>
          </p:cNvPicPr>
          <p:nvPr/>
        </p:nvPicPr>
        <p:blipFill>
          <a:blip r:embed="rId1"/>
          <a:srcRect l="0" r="0" t="0" b="0"/>
          <a:stretch/>
        </p:blipFill>
        <p:spPr>
          <a:xfrm>
            <a:off x="182880" y="658368"/>
            <a:ext cx="5394960" cy="3017520"/>
          </a:xfrm>
          <a:prstGeom prst="rect">
            <a:avLst/>
          </a:prstGeom>
        </p:spPr>
      </p:pic>
      <p:pic>
        <p:nvPicPr>
          <p:cNvPr id="6" name="Image 1" descr="/home/claude/chart_caruse.jpg">    </p:cNvPr>
          <p:cNvPicPr>
            <a:picLocks noChangeAspect="1"/>
          </p:cNvPicPr>
          <p:nvPr/>
        </p:nvPicPr>
        <p:blipFill>
          <a:blip r:embed="rId2"/>
          <a:srcRect l="0" r="0" t="0" b="0"/>
          <a:stretch/>
        </p:blipFill>
        <p:spPr>
          <a:xfrm>
            <a:off x="5669280" y="658368"/>
            <a:ext cx="3291840" cy="2011680"/>
          </a:xfrm>
          <a:prstGeom prst="rect">
            <a:avLst/>
          </a:prstGeom>
        </p:spPr>
      </p:pic>
      <p:sp>
        <p:nvSpPr>
          <p:cNvPr id="7" name="Shape 3"/>
          <p:cNvSpPr/>
          <p:nvPr/>
        </p:nvSpPr>
        <p:spPr>
          <a:xfrm>
            <a:off x="5669280" y="2816352"/>
            <a:ext cx="3291840" cy="1984248"/>
          </a:xfrm>
          <a:prstGeom prst="rect">
            <a:avLst/>
          </a:prstGeom>
          <a:solidFill>
            <a:srgbClr val="0D2137"/>
          </a:solidFill>
          <a:ln w="12700">
            <a:solidFill>
              <a:srgbClr val="00C9A7"/>
            </a:solidFill>
            <a:prstDash val="solid"/>
          </a:ln>
        </p:spPr>
      </p:sp>
      <p:sp>
        <p:nvSpPr>
          <p:cNvPr id="8" name="Text 4"/>
          <p:cNvSpPr/>
          <p:nvPr/>
        </p:nvSpPr>
        <p:spPr>
          <a:xfrm>
            <a:off x="5806440" y="2889504"/>
            <a:ext cx="3017520" cy="292608"/>
          </a:xfrm>
          <a:prstGeom prst="rect">
            <a:avLst/>
          </a:prstGeom>
          <a:noFill/>
          <a:ln/>
        </p:spPr>
        <p:txBody>
          <a:bodyPr wrap="square"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What this tells us:</a:t>
            </a:r>
            <a:endParaRPr lang="en-US" sz="1300" dirty="0"/>
          </a:p>
        </p:txBody>
      </p:sp>
      <p:sp>
        <p:nvSpPr>
          <p:cNvPr id="9" name="Text 5"/>
          <p:cNvSpPr/>
          <p:nvPr/>
        </p:nvSpPr>
        <p:spPr>
          <a:xfrm>
            <a:off x="5806440" y="3200400"/>
            <a:ext cx="3017520" cy="1508760"/>
          </a:xfrm>
          <a:prstGeom prst="rect">
            <a:avLst/>
          </a:prstGeom>
          <a:noFill/>
          <a:ln/>
        </p:spPr>
        <p:txBody>
          <a:bodyPr wrap="square" rtlCol="0" anchor="t"/>
          <a:lstStyle/>
          <a:p>
            <a:pPr indent="0" marL="0">
              <a:buNone/>
            </a:pPr>
            <a:r>
              <a:rPr lang="en-US" sz="1150" dirty="0">
                <a:solidFill>
                  <a:srgbClr val="B0C4DE"/>
                </a:solidFill>
                <a:latin typeface="Calibri" pitchFamily="34" charset="0"/>
                <a:ea typeface="Calibri" pitchFamily="34" charset="-122"/>
                <a:cs typeface="Calibri" pitchFamily="34" charset="-120"/>
              </a:rPr>
              <a:t>• Ford ($16.6M) and Chevrolet ($14.8M) have the highest claims among all car brands.</a:t>
            </a:r>
            <a:endParaRPr lang="en-US" sz="1150" dirty="0"/>
          </a:p>
          <a:p>
            <a:pPr indent="0" marL="0">
              <a:buNone/>
            </a:pPr>
            <a:endParaRPr lang="en-US" sz="1150" dirty="0"/>
          </a:p>
          <a:p>
            <a:pPr indent="0" marL="0">
              <a:buNone/>
            </a:pPr>
            <a:r>
              <a:rPr lang="en-US" sz="1150" dirty="0">
                <a:solidFill>
                  <a:srgbClr val="B0C4DE"/>
                </a:solidFill>
                <a:latin typeface="Calibri" pitchFamily="34" charset="0"/>
                <a:ea typeface="Calibri" pitchFamily="34" charset="-122"/>
                <a:cs typeface="Calibri" pitchFamily="34" charset="-120"/>
              </a:rPr>
              <a:t>• 80% of all claims come from private cars. Only 20% come from commercial vehicles.</a:t>
            </a:r>
            <a:endParaRPr lang="en-US" sz="1150" dirty="0"/>
          </a:p>
        </p:txBody>
      </p:sp>
      <p:sp>
        <p:nvSpPr>
          <p:cNvPr id="10" name="Shape 6"/>
          <p:cNvSpPr/>
          <p:nvPr/>
        </p:nvSpPr>
        <p:spPr>
          <a:xfrm>
            <a:off x="0" y="4960620"/>
            <a:ext cx="9144000" cy="182880"/>
          </a:xfrm>
          <a:prstGeom prst="rect">
            <a:avLst/>
          </a:prstGeom>
          <a:solidFill>
            <a:srgbClr val="028090">
              <a:alpha val="60000"/>
            </a:srgbClr>
          </a:solidFill>
          <a:ln w="12700">
            <a:solidFill>
              <a:srgbClr val="028090"/>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Text 1"/>
          <p:cNvSpPr/>
          <p:nvPr/>
        </p:nvSpPr>
        <p:spPr>
          <a:xfrm>
            <a:off x="365760" y="137160"/>
            <a:ext cx="8229600" cy="4572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CLAIMS BY AGE GROUP &amp; EDUCATION</a:t>
            </a:r>
            <a:endParaRPr lang="en-US" sz="2600" dirty="0"/>
          </a:p>
        </p:txBody>
      </p:sp>
      <p:sp>
        <p:nvSpPr>
          <p:cNvPr id="4" name="Shape 2"/>
          <p:cNvSpPr/>
          <p:nvPr/>
        </p:nvSpPr>
        <p:spPr>
          <a:xfrm>
            <a:off x="365760" y="594360"/>
            <a:ext cx="8412480" cy="27432"/>
          </a:xfrm>
          <a:prstGeom prst="rect">
            <a:avLst/>
          </a:prstGeom>
          <a:solidFill>
            <a:srgbClr val="028090">
              <a:alpha val="60000"/>
            </a:srgbClr>
          </a:solidFill>
          <a:ln w="12700">
            <a:solidFill>
              <a:srgbClr val="028090"/>
            </a:solidFill>
            <a:prstDash val="solid"/>
          </a:ln>
        </p:spPr>
      </p:sp>
      <p:pic>
        <p:nvPicPr>
          <p:cNvPr id="5" name="Image 0" descr="/home/claude/chart_agegroup.jpg">    </p:cNvPr>
          <p:cNvPicPr>
            <a:picLocks noChangeAspect="1"/>
          </p:cNvPicPr>
          <p:nvPr/>
        </p:nvPicPr>
        <p:blipFill>
          <a:blip r:embed="rId1"/>
          <a:srcRect l="0" r="0" t="0" b="0"/>
          <a:stretch/>
        </p:blipFill>
        <p:spPr>
          <a:xfrm>
            <a:off x="182880" y="658368"/>
            <a:ext cx="4206240" cy="2194560"/>
          </a:xfrm>
          <a:prstGeom prst="rect">
            <a:avLst/>
          </a:prstGeom>
        </p:spPr>
      </p:pic>
      <p:pic>
        <p:nvPicPr>
          <p:cNvPr id="6" name="Image 1" descr="/home/claude/chart_education.jpg">    </p:cNvPr>
          <p:cNvPicPr>
            <a:picLocks noChangeAspect="1"/>
          </p:cNvPicPr>
          <p:nvPr/>
        </p:nvPicPr>
        <p:blipFill>
          <a:blip r:embed="rId2"/>
          <a:srcRect l="0" r="0" t="0" b="0"/>
          <a:stretch/>
        </p:blipFill>
        <p:spPr>
          <a:xfrm>
            <a:off x="4526280" y="658368"/>
            <a:ext cx="2377440" cy="2194560"/>
          </a:xfrm>
          <a:prstGeom prst="rect">
            <a:avLst/>
          </a:prstGeom>
        </p:spPr>
      </p:pic>
      <p:pic>
        <p:nvPicPr>
          <p:cNvPr id="7" name="Image 2" descr="/home/claude/chart_edutable.jpg">    </p:cNvPr>
          <p:cNvPicPr>
            <a:picLocks noChangeAspect="1"/>
          </p:cNvPicPr>
          <p:nvPr/>
        </p:nvPicPr>
        <p:blipFill>
          <a:blip r:embed="rId3"/>
          <a:srcRect l="0" r="0" t="0" b="0"/>
          <a:stretch/>
        </p:blipFill>
        <p:spPr>
          <a:xfrm>
            <a:off x="6995160" y="658368"/>
            <a:ext cx="1965960" cy="2194560"/>
          </a:xfrm>
          <a:prstGeom prst="rect">
            <a:avLst/>
          </a:prstGeom>
        </p:spPr>
      </p:pic>
      <p:sp>
        <p:nvSpPr>
          <p:cNvPr id="8" name="Shape 3"/>
          <p:cNvSpPr/>
          <p:nvPr/>
        </p:nvSpPr>
        <p:spPr>
          <a:xfrm>
            <a:off x="182880" y="2944368"/>
            <a:ext cx="4206240" cy="1856232"/>
          </a:xfrm>
          <a:prstGeom prst="rect">
            <a:avLst/>
          </a:prstGeom>
          <a:solidFill>
            <a:srgbClr val="0D2137"/>
          </a:solidFill>
          <a:ln w="12700">
            <a:solidFill>
              <a:srgbClr val="00C9A7"/>
            </a:solidFill>
            <a:prstDash val="solid"/>
          </a:ln>
        </p:spPr>
      </p:sp>
      <p:sp>
        <p:nvSpPr>
          <p:cNvPr id="9" name="Text 4"/>
          <p:cNvSpPr/>
          <p:nvPr/>
        </p:nvSpPr>
        <p:spPr>
          <a:xfrm>
            <a:off x="320040" y="3017520"/>
            <a:ext cx="3931920" cy="292608"/>
          </a:xfrm>
          <a:prstGeom prst="rect">
            <a:avLst/>
          </a:prstGeom>
          <a:noFill/>
          <a:ln/>
        </p:spPr>
        <p:txBody>
          <a:bodyPr wrap="square"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What this tells us:</a:t>
            </a:r>
            <a:endParaRPr lang="en-US" sz="1300" dirty="0"/>
          </a:p>
        </p:txBody>
      </p:sp>
      <p:sp>
        <p:nvSpPr>
          <p:cNvPr id="10" name="Text 5"/>
          <p:cNvSpPr/>
          <p:nvPr/>
        </p:nvSpPr>
        <p:spPr>
          <a:xfrm>
            <a:off x="320040" y="3337560"/>
            <a:ext cx="3931920" cy="1325880"/>
          </a:xfrm>
          <a:prstGeom prst="rect">
            <a:avLst/>
          </a:prstGeom>
          <a:noFill/>
          <a:ln/>
        </p:spPr>
        <p:txBody>
          <a:bodyPr wrap="square" rtlCol="0" anchor="t"/>
          <a:lstStyle/>
          <a:p>
            <a:pPr indent="0" marL="0">
              <a:buNone/>
            </a:pPr>
            <a:r>
              <a:rPr lang="en-US" sz="1150" dirty="0">
                <a:solidFill>
                  <a:srgbClr val="B0C4DE"/>
                </a:solidFill>
                <a:latin typeface="Calibri" pitchFamily="34" charset="0"/>
                <a:ea typeface="Calibri" pitchFamily="34" charset="-122"/>
                <a:cs typeface="Calibri" pitchFamily="34" charset="-120"/>
              </a:rPr>
              <a:t>People aged 26 to 65 make the most claims. The youngest group (15-25) has the lowest claims. Middle-aged drivers are the highest risk group.</a:t>
            </a:r>
            <a:endParaRPr lang="en-US" sz="1150" dirty="0"/>
          </a:p>
        </p:txBody>
      </p:sp>
      <p:sp>
        <p:nvSpPr>
          <p:cNvPr id="11" name="Shape 6"/>
          <p:cNvSpPr/>
          <p:nvPr/>
        </p:nvSpPr>
        <p:spPr>
          <a:xfrm>
            <a:off x="4526280" y="2944368"/>
            <a:ext cx="4434840" cy="1856232"/>
          </a:xfrm>
          <a:prstGeom prst="rect">
            <a:avLst/>
          </a:prstGeom>
          <a:solidFill>
            <a:srgbClr val="0D2137"/>
          </a:solidFill>
          <a:ln w="12700">
            <a:solidFill>
              <a:srgbClr val="00C9A7"/>
            </a:solidFill>
            <a:prstDash val="solid"/>
          </a:ln>
        </p:spPr>
      </p:sp>
      <p:sp>
        <p:nvSpPr>
          <p:cNvPr id="12" name="Text 7"/>
          <p:cNvSpPr/>
          <p:nvPr/>
        </p:nvSpPr>
        <p:spPr>
          <a:xfrm>
            <a:off x="4663440" y="3017520"/>
            <a:ext cx="4160520" cy="292608"/>
          </a:xfrm>
          <a:prstGeom prst="rect">
            <a:avLst/>
          </a:prstGeom>
          <a:noFill/>
          <a:ln/>
        </p:spPr>
        <p:txBody>
          <a:bodyPr wrap="square"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What this tells us:</a:t>
            </a:r>
            <a:endParaRPr lang="en-US" sz="1300" dirty="0"/>
          </a:p>
        </p:txBody>
      </p:sp>
      <p:sp>
        <p:nvSpPr>
          <p:cNvPr id="13" name="Text 8"/>
          <p:cNvSpPr/>
          <p:nvPr/>
        </p:nvSpPr>
        <p:spPr>
          <a:xfrm>
            <a:off x="4663440" y="3337560"/>
            <a:ext cx="4160520" cy="1325880"/>
          </a:xfrm>
          <a:prstGeom prst="rect">
            <a:avLst/>
          </a:prstGeom>
          <a:noFill/>
          <a:ln/>
        </p:spPr>
        <p:txBody>
          <a:bodyPr wrap="square" rtlCol="0" anchor="t"/>
          <a:lstStyle/>
          <a:p>
            <a:pPr indent="0" marL="0">
              <a:buNone/>
            </a:pPr>
            <a:r>
              <a:rPr lang="en-US" sz="1150" dirty="0">
                <a:solidFill>
                  <a:srgbClr val="B0C4DE"/>
                </a:solidFill>
                <a:latin typeface="Calibri" pitchFamily="34" charset="0"/>
                <a:ea typeface="Calibri" pitchFamily="34" charset="-122"/>
                <a:cs typeface="Calibri" pitchFamily="34" charset="-120"/>
              </a:rPr>
              <a:t>High School educated policyholders make up the biggest share of claims. Single people with High School education have the highest claims at $40.2M — nearly 4x more than married ones ($5.2M).</a:t>
            </a:r>
            <a:endParaRPr lang="en-US" sz="1150" dirty="0"/>
          </a:p>
        </p:txBody>
      </p:sp>
      <p:sp>
        <p:nvSpPr>
          <p:cNvPr id="14" name="Shape 9"/>
          <p:cNvSpPr/>
          <p:nvPr/>
        </p:nvSpPr>
        <p:spPr>
          <a:xfrm>
            <a:off x="0" y="4960620"/>
            <a:ext cx="9144000" cy="182880"/>
          </a:xfrm>
          <a:prstGeom prst="rect">
            <a:avLst/>
          </a:prstGeom>
          <a:solidFill>
            <a:srgbClr val="028090">
              <a:alpha val="60000"/>
            </a:srgbClr>
          </a:solidFill>
          <a:ln w="12700">
            <a:solidFill>
              <a:srgbClr val="028090"/>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Text 1"/>
          <p:cNvSpPr/>
          <p:nvPr/>
        </p:nvSpPr>
        <p:spPr>
          <a:xfrm>
            <a:off x="365760" y="137160"/>
            <a:ext cx="8503920" cy="45720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CLAIMS BY LOCATION, CAR YEAR &amp; KIDS DRIVING</a:t>
            </a:r>
            <a:endParaRPr lang="en-US" sz="2400" dirty="0"/>
          </a:p>
        </p:txBody>
      </p:sp>
      <p:sp>
        <p:nvSpPr>
          <p:cNvPr id="4" name="Shape 2"/>
          <p:cNvSpPr/>
          <p:nvPr/>
        </p:nvSpPr>
        <p:spPr>
          <a:xfrm>
            <a:off x="365760" y="594360"/>
            <a:ext cx="8412480" cy="27432"/>
          </a:xfrm>
          <a:prstGeom prst="rect">
            <a:avLst/>
          </a:prstGeom>
          <a:solidFill>
            <a:srgbClr val="028090">
              <a:alpha val="60000"/>
            </a:srgbClr>
          </a:solidFill>
          <a:ln w="12700">
            <a:solidFill>
              <a:srgbClr val="028090"/>
            </a:solidFill>
            <a:prstDash val="solid"/>
          </a:ln>
        </p:spPr>
      </p:sp>
      <p:pic>
        <p:nvPicPr>
          <p:cNvPr id="5" name="Image 0" descr="/home/claude/chart_coverage.jpg">    </p:cNvPr>
          <p:cNvPicPr>
            <a:picLocks noChangeAspect="1"/>
          </p:cNvPicPr>
          <p:nvPr/>
        </p:nvPicPr>
        <p:blipFill>
          <a:blip r:embed="rId1"/>
          <a:srcRect l="0" r="0" t="0" b="0"/>
          <a:stretch/>
        </p:blipFill>
        <p:spPr>
          <a:xfrm>
            <a:off x="182880" y="658368"/>
            <a:ext cx="3200400" cy="2286000"/>
          </a:xfrm>
          <a:prstGeom prst="rect">
            <a:avLst/>
          </a:prstGeom>
        </p:spPr>
      </p:pic>
      <p:pic>
        <p:nvPicPr>
          <p:cNvPr id="6" name="Image 1" descr="/home/claude/chart_caryear.jpg">    </p:cNvPr>
          <p:cNvPicPr>
            <a:picLocks noChangeAspect="1"/>
          </p:cNvPicPr>
          <p:nvPr/>
        </p:nvPicPr>
        <p:blipFill>
          <a:blip r:embed="rId2"/>
          <a:srcRect l="0" r="0" t="0" b="0"/>
          <a:stretch/>
        </p:blipFill>
        <p:spPr>
          <a:xfrm>
            <a:off x="3520440" y="658368"/>
            <a:ext cx="5440680" cy="2286000"/>
          </a:xfrm>
          <a:prstGeom prst="rect">
            <a:avLst/>
          </a:prstGeom>
        </p:spPr>
      </p:pic>
      <p:pic>
        <p:nvPicPr>
          <p:cNvPr id="7" name="Image 2" descr="/home/claude/chart_kids.jpg">    </p:cNvPr>
          <p:cNvPicPr>
            <a:picLocks noChangeAspect="1"/>
          </p:cNvPicPr>
          <p:nvPr/>
        </p:nvPicPr>
        <p:blipFill>
          <a:blip r:embed="rId3"/>
          <a:srcRect l="0" r="0" t="0" b="0"/>
          <a:stretch/>
        </p:blipFill>
        <p:spPr>
          <a:xfrm>
            <a:off x="182880" y="3063240"/>
            <a:ext cx="3931920" cy="1737360"/>
          </a:xfrm>
          <a:prstGeom prst="rect">
            <a:avLst/>
          </a:prstGeom>
        </p:spPr>
      </p:pic>
      <p:sp>
        <p:nvSpPr>
          <p:cNvPr id="8" name="Shape 3"/>
          <p:cNvSpPr/>
          <p:nvPr/>
        </p:nvSpPr>
        <p:spPr>
          <a:xfrm>
            <a:off x="4251960" y="3063240"/>
            <a:ext cx="4709160" cy="1737360"/>
          </a:xfrm>
          <a:prstGeom prst="rect">
            <a:avLst/>
          </a:prstGeom>
          <a:solidFill>
            <a:srgbClr val="0D2137"/>
          </a:solidFill>
          <a:ln w="12700">
            <a:solidFill>
              <a:srgbClr val="00C9A7"/>
            </a:solidFill>
            <a:prstDash val="solid"/>
          </a:ln>
        </p:spPr>
      </p:sp>
      <p:sp>
        <p:nvSpPr>
          <p:cNvPr id="9" name="Text 4"/>
          <p:cNvSpPr/>
          <p:nvPr/>
        </p:nvSpPr>
        <p:spPr>
          <a:xfrm>
            <a:off x="4389120" y="3127248"/>
            <a:ext cx="4434840" cy="292608"/>
          </a:xfrm>
          <a:prstGeom prst="rect">
            <a:avLst/>
          </a:prstGeom>
          <a:noFill/>
          <a:ln/>
        </p:spPr>
        <p:txBody>
          <a:bodyPr wrap="square"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What this tells us:</a:t>
            </a:r>
            <a:endParaRPr lang="en-US" sz="1300" dirty="0"/>
          </a:p>
        </p:txBody>
      </p:sp>
      <p:sp>
        <p:nvSpPr>
          <p:cNvPr id="10" name="Text 5"/>
          <p:cNvSpPr/>
          <p:nvPr/>
        </p:nvSpPr>
        <p:spPr>
          <a:xfrm>
            <a:off x="4389120" y="3456432"/>
            <a:ext cx="4434840" cy="1280160"/>
          </a:xfrm>
          <a:prstGeom prst="rect">
            <a:avLst/>
          </a:prstGeom>
          <a:noFill/>
          <a:ln/>
        </p:spPr>
        <p:txBody>
          <a:bodyPr wrap="square" rtlCol="0" anchor="t"/>
          <a:lstStyle/>
          <a:p>
            <a:pPr indent="0" marL="0">
              <a:buNone/>
            </a:pPr>
            <a:r>
              <a:rPr lang="en-US" sz="1100" dirty="0">
                <a:solidFill>
                  <a:srgbClr val="B0C4DE"/>
                </a:solidFill>
                <a:latin typeface="Calibri" pitchFamily="34" charset="0"/>
                <a:ea typeface="Calibri" pitchFamily="34" charset="-122"/>
                <a:cs typeface="Calibri" pitchFamily="34" charset="-120"/>
              </a:rPr>
              <a:t>• All 5 coverage zones show almost equal claims (~20% each) — where you live does not change the risk much.</a:t>
            </a:r>
            <a:endParaRPr lang="en-US" sz="1100" dirty="0"/>
          </a:p>
          <a:p>
            <a:pPr indent="0" marL="0">
              <a:buNone/>
            </a:pPr>
            <a:r>
              <a:rPr lang="en-US" sz="1100" dirty="0">
                <a:solidFill>
                  <a:srgbClr val="B0C4DE"/>
                </a:solidFill>
                <a:latin typeface="Calibri" pitchFamily="34" charset="0"/>
                <a:ea typeface="Calibri" pitchFamily="34" charset="-122"/>
                <a:cs typeface="Calibri" pitchFamily="34" charset="-120"/>
              </a:rPr>
              <a:t>• Cars made between 2000 and 2017 have the highest claims. Newer 2020 cars have very few claims.</a:t>
            </a:r>
            <a:endParaRPr lang="en-US" sz="1100" dirty="0"/>
          </a:p>
          <a:p>
            <a:pPr indent="0" marL="0">
              <a:buNone/>
            </a:pPr>
            <a:r>
              <a:rPr lang="en-US" sz="1100" dirty="0">
                <a:solidFill>
                  <a:srgbClr val="B0C4DE"/>
                </a:solidFill>
                <a:latin typeface="Calibri" pitchFamily="34" charset="0"/>
                <a:ea typeface="Calibri" pitchFamily="34" charset="-122"/>
                <a:cs typeface="Calibri" pitchFamily="34" charset="-120"/>
              </a:rPr>
              <a:t>• Customers with no kids driving have the most claims ($134M).</a:t>
            </a:r>
            <a:endParaRPr lang="en-US" sz="1100" dirty="0"/>
          </a:p>
        </p:txBody>
      </p:sp>
      <p:sp>
        <p:nvSpPr>
          <p:cNvPr id="11" name="Shape 6"/>
          <p:cNvSpPr/>
          <p:nvPr/>
        </p:nvSpPr>
        <p:spPr>
          <a:xfrm>
            <a:off x="0" y="4960620"/>
            <a:ext cx="9144000" cy="182880"/>
          </a:xfrm>
          <a:prstGeom prst="rect">
            <a:avLst/>
          </a:prstGeom>
          <a:solidFill>
            <a:srgbClr val="028090">
              <a:alpha val="60000"/>
            </a:srgbClr>
          </a:solidFill>
          <a:ln w="12700">
            <a:solidFill>
              <a:srgbClr val="028090"/>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Text 1"/>
          <p:cNvSpPr/>
          <p:nvPr/>
        </p:nvSpPr>
        <p:spPr>
          <a:xfrm>
            <a:off x="365760" y="182880"/>
            <a:ext cx="8229600" cy="502920"/>
          </a:xfrm>
          <a:prstGeom prst="rect">
            <a:avLst/>
          </a:prstGeom>
          <a:noFill/>
          <a:ln/>
        </p:spPr>
        <p:txBody>
          <a:bodyPr wrap="square" rtlCol="0" anchor="ctr"/>
          <a:lstStyle/>
          <a:p>
            <a:pPr indent="0" marL="0">
              <a:buNone/>
            </a:pPr>
            <a:r>
              <a:rPr lang="en-US" sz="2800" b="1" spc="100" kern="0" dirty="0">
                <a:solidFill>
                  <a:srgbClr val="FFFFFF"/>
                </a:solidFill>
                <a:latin typeface="Calibri" pitchFamily="34" charset="0"/>
                <a:ea typeface="Calibri" pitchFamily="34" charset="-122"/>
                <a:cs typeface="Calibri" pitchFamily="34" charset="-120"/>
              </a:rPr>
              <a:t>DAX MEASURES USED</a:t>
            </a:r>
            <a:endParaRPr lang="en-US" sz="2800" dirty="0"/>
          </a:p>
        </p:txBody>
      </p:sp>
      <p:sp>
        <p:nvSpPr>
          <p:cNvPr id="4" name="Shape 2"/>
          <p:cNvSpPr/>
          <p:nvPr/>
        </p:nvSpPr>
        <p:spPr>
          <a:xfrm>
            <a:off x="365760" y="685800"/>
            <a:ext cx="8412480" cy="27432"/>
          </a:xfrm>
          <a:prstGeom prst="rect">
            <a:avLst/>
          </a:prstGeom>
          <a:solidFill>
            <a:srgbClr val="028090">
              <a:alpha val="60000"/>
            </a:srgbClr>
          </a:solidFill>
          <a:ln w="12700">
            <a:solidFill>
              <a:srgbClr val="028090"/>
            </a:solidFill>
            <a:prstDash val="solid"/>
          </a:ln>
        </p:spPr>
      </p:sp>
      <p:sp>
        <p:nvSpPr>
          <p:cNvPr id="5" name="Shape 3"/>
          <p:cNvSpPr/>
          <p:nvPr/>
        </p:nvSpPr>
        <p:spPr>
          <a:xfrm>
            <a:off x="274320" y="822960"/>
            <a:ext cx="4206240" cy="868680"/>
          </a:xfrm>
          <a:prstGeom prst="rect">
            <a:avLst/>
          </a:prstGeom>
          <a:solidFill>
            <a:srgbClr val="0D2137"/>
          </a:solidFill>
          <a:ln/>
        </p:spPr>
      </p:sp>
      <p:sp>
        <p:nvSpPr>
          <p:cNvPr id="6" name="Shape 4"/>
          <p:cNvSpPr/>
          <p:nvPr/>
        </p:nvSpPr>
        <p:spPr>
          <a:xfrm>
            <a:off x="274320" y="822960"/>
            <a:ext cx="54864" cy="868680"/>
          </a:xfrm>
          <a:prstGeom prst="rect">
            <a:avLst/>
          </a:prstGeom>
          <a:solidFill>
            <a:srgbClr val="00C9A7"/>
          </a:solidFill>
          <a:ln w="12700">
            <a:solidFill>
              <a:srgbClr val="00C9A7"/>
            </a:solidFill>
            <a:prstDash val="solid"/>
          </a:ln>
        </p:spPr>
      </p:sp>
      <p:sp>
        <p:nvSpPr>
          <p:cNvPr id="7" name="Text 5"/>
          <p:cNvSpPr/>
          <p:nvPr/>
        </p:nvSpPr>
        <p:spPr>
          <a:xfrm>
            <a:off x="411480" y="877824"/>
            <a:ext cx="4023360" cy="274320"/>
          </a:xfrm>
          <a:prstGeom prst="rect">
            <a:avLst/>
          </a:prstGeom>
          <a:noFill/>
          <a:ln/>
        </p:spPr>
        <p:txBody>
          <a:bodyPr wrap="square"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Age</a:t>
            </a:r>
            <a:endParaRPr lang="en-US" sz="1300" dirty="0"/>
          </a:p>
        </p:txBody>
      </p:sp>
      <p:sp>
        <p:nvSpPr>
          <p:cNvPr id="8" name="Text 6"/>
          <p:cNvSpPr/>
          <p:nvPr/>
        </p:nvSpPr>
        <p:spPr>
          <a:xfrm>
            <a:off x="411480" y="1115568"/>
            <a:ext cx="4023360" cy="274320"/>
          </a:xfrm>
          <a:prstGeom prst="rect">
            <a:avLst/>
          </a:prstGeom>
          <a:noFill/>
          <a:ln/>
        </p:spPr>
        <p:txBody>
          <a:bodyPr wrap="square" rtlCol="0" anchor="ctr"/>
          <a:lstStyle/>
          <a:p>
            <a:pPr indent="0" marL="0">
              <a:buNone/>
            </a:pPr>
            <a:r>
              <a:rPr lang="en-US" sz="1000" dirty="0">
                <a:solidFill>
                  <a:srgbClr val="00E5A0"/>
                </a:solidFill>
                <a:latin typeface="Consolas" pitchFamily="34" charset="0"/>
                <a:ea typeface="Consolas" pitchFamily="34" charset="-122"/>
                <a:cs typeface="Consolas" pitchFamily="34" charset="-120"/>
              </a:rPr>
              <a:t>DATEDIFF(insurance_data_car[BirthDate], TODAY(), YEAR)</a:t>
            </a:r>
            <a:endParaRPr lang="en-US" sz="1000" dirty="0"/>
          </a:p>
        </p:txBody>
      </p:sp>
      <p:sp>
        <p:nvSpPr>
          <p:cNvPr id="9" name="Text 7"/>
          <p:cNvSpPr/>
          <p:nvPr/>
        </p:nvSpPr>
        <p:spPr>
          <a:xfrm>
            <a:off x="411480" y="1371600"/>
            <a:ext cx="4023360" cy="256032"/>
          </a:xfrm>
          <a:prstGeom prst="rect">
            <a:avLst/>
          </a:prstGeom>
          <a:noFill/>
          <a:ln/>
        </p:spPr>
        <p:txBody>
          <a:bodyPr wrap="square" rtlCol="0" anchor="ctr"/>
          <a:lstStyle/>
          <a:p>
            <a:pPr indent="0" marL="0">
              <a:buNone/>
            </a:pPr>
            <a:r>
              <a:rPr lang="en-US" sz="1000" dirty="0">
                <a:solidFill>
                  <a:srgbClr val="B0C4DE"/>
                </a:solidFill>
                <a:latin typeface="Calibri" pitchFamily="34" charset="0"/>
                <a:ea typeface="Calibri" pitchFamily="34" charset="-122"/>
                <a:cs typeface="Calibri" pitchFamily="34" charset="-120"/>
              </a:rPr>
              <a:t>Calculates how old each policyholder is today</a:t>
            </a:r>
            <a:endParaRPr lang="en-US" sz="1000" dirty="0"/>
          </a:p>
        </p:txBody>
      </p:sp>
      <p:sp>
        <p:nvSpPr>
          <p:cNvPr id="10" name="Shape 8"/>
          <p:cNvSpPr/>
          <p:nvPr/>
        </p:nvSpPr>
        <p:spPr>
          <a:xfrm>
            <a:off x="274320" y="1828800"/>
            <a:ext cx="4206240" cy="868680"/>
          </a:xfrm>
          <a:prstGeom prst="rect">
            <a:avLst/>
          </a:prstGeom>
          <a:solidFill>
            <a:srgbClr val="0D2137"/>
          </a:solidFill>
          <a:ln/>
        </p:spPr>
      </p:sp>
      <p:sp>
        <p:nvSpPr>
          <p:cNvPr id="11" name="Shape 9"/>
          <p:cNvSpPr/>
          <p:nvPr/>
        </p:nvSpPr>
        <p:spPr>
          <a:xfrm>
            <a:off x="274320" y="1828800"/>
            <a:ext cx="54864" cy="868680"/>
          </a:xfrm>
          <a:prstGeom prst="rect">
            <a:avLst/>
          </a:prstGeom>
          <a:solidFill>
            <a:srgbClr val="00C9A7"/>
          </a:solidFill>
          <a:ln w="12700">
            <a:solidFill>
              <a:srgbClr val="00C9A7"/>
            </a:solidFill>
            <a:prstDash val="solid"/>
          </a:ln>
        </p:spPr>
      </p:sp>
      <p:sp>
        <p:nvSpPr>
          <p:cNvPr id="12" name="Text 10"/>
          <p:cNvSpPr/>
          <p:nvPr/>
        </p:nvSpPr>
        <p:spPr>
          <a:xfrm>
            <a:off x="411480" y="1883664"/>
            <a:ext cx="4023360" cy="274320"/>
          </a:xfrm>
          <a:prstGeom prst="rect">
            <a:avLst/>
          </a:prstGeom>
          <a:noFill/>
          <a:ln/>
        </p:spPr>
        <p:txBody>
          <a:bodyPr wrap="square"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Age Group</a:t>
            </a:r>
            <a:endParaRPr lang="en-US" sz="1300" dirty="0"/>
          </a:p>
        </p:txBody>
      </p:sp>
      <p:sp>
        <p:nvSpPr>
          <p:cNvPr id="13" name="Text 11"/>
          <p:cNvSpPr/>
          <p:nvPr/>
        </p:nvSpPr>
        <p:spPr>
          <a:xfrm>
            <a:off x="411480" y="2121408"/>
            <a:ext cx="4023360" cy="274320"/>
          </a:xfrm>
          <a:prstGeom prst="rect">
            <a:avLst/>
          </a:prstGeom>
          <a:noFill/>
          <a:ln/>
        </p:spPr>
        <p:txBody>
          <a:bodyPr wrap="square" rtlCol="0" anchor="ctr"/>
          <a:lstStyle/>
          <a:p>
            <a:pPr indent="0" marL="0">
              <a:buNone/>
            </a:pPr>
            <a:r>
              <a:rPr lang="en-US" sz="1000" dirty="0">
                <a:solidFill>
                  <a:srgbClr val="00E5A0"/>
                </a:solidFill>
                <a:latin typeface="Consolas" pitchFamily="34" charset="0"/>
                <a:ea typeface="Consolas" pitchFamily="34" charset="-122"/>
                <a:cs typeface="Consolas" pitchFamily="34" charset="-120"/>
              </a:rPr>
              <a:t>SWITCH(TRUE(), Age&gt;=15 &amp;&amp; Age&lt;=25, '15-25', ... )</a:t>
            </a:r>
            <a:endParaRPr lang="en-US" sz="1000" dirty="0"/>
          </a:p>
        </p:txBody>
      </p:sp>
      <p:sp>
        <p:nvSpPr>
          <p:cNvPr id="14" name="Text 12"/>
          <p:cNvSpPr/>
          <p:nvPr/>
        </p:nvSpPr>
        <p:spPr>
          <a:xfrm>
            <a:off x="411480" y="2377440"/>
            <a:ext cx="4023360" cy="256032"/>
          </a:xfrm>
          <a:prstGeom prst="rect">
            <a:avLst/>
          </a:prstGeom>
          <a:noFill/>
          <a:ln/>
        </p:spPr>
        <p:txBody>
          <a:bodyPr wrap="square" rtlCol="0" anchor="ctr"/>
          <a:lstStyle/>
          <a:p>
            <a:pPr indent="0" marL="0">
              <a:buNone/>
            </a:pPr>
            <a:r>
              <a:rPr lang="en-US" sz="1000" dirty="0">
                <a:solidFill>
                  <a:srgbClr val="B0C4DE"/>
                </a:solidFill>
                <a:latin typeface="Calibri" pitchFamily="34" charset="0"/>
                <a:ea typeface="Calibri" pitchFamily="34" charset="-122"/>
                <a:cs typeface="Calibri" pitchFamily="34" charset="-120"/>
              </a:rPr>
              <a:t>Groups customers into 6 age buckets for easy analysis</a:t>
            </a:r>
            <a:endParaRPr lang="en-US" sz="1000" dirty="0"/>
          </a:p>
        </p:txBody>
      </p:sp>
      <p:sp>
        <p:nvSpPr>
          <p:cNvPr id="15" name="Shape 13"/>
          <p:cNvSpPr/>
          <p:nvPr/>
        </p:nvSpPr>
        <p:spPr>
          <a:xfrm>
            <a:off x="274320" y="2834640"/>
            <a:ext cx="4206240" cy="868680"/>
          </a:xfrm>
          <a:prstGeom prst="rect">
            <a:avLst/>
          </a:prstGeom>
          <a:solidFill>
            <a:srgbClr val="0D2137"/>
          </a:solidFill>
          <a:ln/>
        </p:spPr>
      </p:sp>
      <p:sp>
        <p:nvSpPr>
          <p:cNvPr id="16" name="Shape 14"/>
          <p:cNvSpPr/>
          <p:nvPr/>
        </p:nvSpPr>
        <p:spPr>
          <a:xfrm>
            <a:off x="274320" y="2834640"/>
            <a:ext cx="54864" cy="868680"/>
          </a:xfrm>
          <a:prstGeom prst="rect">
            <a:avLst/>
          </a:prstGeom>
          <a:solidFill>
            <a:srgbClr val="00C9A7"/>
          </a:solidFill>
          <a:ln w="12700">
            <a:solidFill>
              <a:srgbClr val="00C9A7"/>
            </a:solidFill>
            <a:prstDash val="solid"/>
          </a:ln>
        </p:spPr>
      </p:sp>
      <p:sp>
        <p:nvSpPr>
          <p:cNvPr id="17" name="Text 15"/>
          <p:cNvSpPr/>
          <p:nvPr/>
        </p:nvSpPr>
        <p:spPr>
          <a:xfrm>
            <a:off x="411480" y="2889504"/>
            <a:ext cx="4023360" cy="274320"/>
          </a:xfrm>
          <a:prstGeom prst="rect">
            <a:avLst/>
          </a:prstGeom>
          <a:noFill/>
          <a:ln/>
        </p:spPr>
        <p:txBody>
          <a:bodyPr wrap="square"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Total Claim Amount</a:t>
            </a:r>
            <a:endParaRPr lang="en-US" sz="1300" dirty="0"/>
          </a:p>
        </p:txBody>
      </p:sp>
      <p:sp>
        <p:nvSpPr>
          <p:cNvPr id="18" name="Text 16"/>
          <p:cNvSpPr/>
          <p:nvPr/>
        </p:nvSpPr>
        <p:spPr>
          <a:xfrm>
            <a:off x="411480" y="3127248"/>
            <a:ext cx="4023360" cy="274320"/>
          </a:xfrm>
          <a:prstGeom prst="rect">
            <a:avLst/>
          </a:prstGeom>
          <a:noFill/>
          <a:ln/>
        </p:spPr>
        <p:txBody>
          <a:bodyPr wrap="square" rtlCol="0" anchor="ctr"/>
          <a:lstStyle/>
          <a:p>
            <a:pPr indent="0" marL="0">
              <a:buNone/>
            </a:pPr>
            <a:r>
              <a:rPr lang="en-US" sz="1000" dirty="0">
                <a:solidFill>
                  <a:srgbClr val="00E5A0"/>
                </a:solidFill>
                <a:latin typeface="Consolas" pitchFamily="34" charset="0"/>
                <a:ea typeface="Consolas" pitchFamily="34" charset="-122"/>
                <a:cs typeface="Consolas" pitchFamily="34" charset="-120"/>
              </a:rPr>
              <a:t>SUM(insurance_data_car[Claim Amount])</a:t>
            </a:r>
            <a:endParaRPr lang="en-US" sz="1000" dirty="0"/>
          </a:p>
        </p:txBody>
      </p:sp>
      <p:sp>
        <p:nvSpPr>
          <p:cNvPr id="19" name="Text 17"/>
          <p:cNvSpPr/>
          <p:nvPr/>
        </p:nvSpPr>
        <p:spPr>
          <a:xfrm>
            <a:off x="411480" y="3383280"/>
            <a:ext cx="4023360" cy="256032"/>
          </a:xfrm>
          <a:prstGeom prst="rect">
            <a:avLst/>
          </a:prstGeom>
          <a:noFill/>
          <a:ln/>
        </p:spPr>
        <p:txBody>
          <a:bodyPr wrap="square" rtlCol="0" anchor="ctr"/>
          <a:lstStyle/>
          <a:p>
            <a:pPr indent="0" marL="0">
              <a:buNone/>
            </a:pPr>
            <a:r>
              <a:rPr lang="en-US" sz="1000" dirty="0">
                <a:solidFill>
                  <a:srgbClr val="B0C4DE"/>
                </a:solidFill>
                <a:latin typeface="Calibri" pitchFamily="34" charset="0"/>
                <a:ea typeface="Calibri" pitchFamily="34" charset="-122"/>
                <a:cs typeface="Calibri" pitchFamily="34" charset="-120"/>
              </a:rPr>
              <a:t>Adds up all claim amounts in the dataset</a:t>
            </a:r>
            <a:endParaRPr lang="en-US" sz="1000" dirty="0"/>
          </a:p>
        </p:txBody>
      </p:sp>
      <p:sp>
        <p:nvSpPr>
          <p:cNvPr id="20" name="Shape 18"/>
          <p:cNvSpPr/>
          <p:nvPr/>
        </p:nvSpPr>
        <p:spPr>
          <a:xfrm>
            <a:off x="274320" y="3840480"/>
            <a:ext cx="4206240" cy="868680"/>
          </a:xfrm>
          <a:prstGeom prst="rect">
            <a:avLst/>
          </a:prstGeom>
          <a:solidFill>
            <a:srgbClr val="0D2137"/>
          </a:solidFill>
          <a:ln/>
        </p:spPr>
      </p:sp>
      <p:sp>
        <p:nvSpPr>
          <p:cNvPr id="21" name="Shape 19"/>
          <p:cNvSpPr/>
          <p:nvPr/>
        </p:nvSpPr>
        <p:spPr>
          <a:xfrm>
            <a:off x="274320" y="3840480"/>
            <a:ext cx="54864" cy="868680"/>
          </a:xfrm>
          <a:prstGeom prst="rect">
            <a:avLst/>
          </a:prstGeom>
          <a:solidFill>
            <a:srgbClr val="00C9A7"/>
          </a:solidFill>
          <a:ln w="12700">
            <a:solidFill>
              <a:srgbClr val="00C9A7"/>
            </a:solidFill>
            <a:prstDash val="solid"/>
          </a:ln>
        </p:spPr>
      </p:sp>
      <p:sp>
        <p:nvSpPr>
          <p:cNvPr id="22" name="Text 20"/>
          <p:cNvSpPr/>
          <p:nvPr/>
        </p:nvSpPr>
        <p:spPr>
          <a:xfrm>
            <a:off x="411480" y="3895344"/>
            <a:ext cx="4023360" cy="274320"/>
          </a:xfrm>
          <a:prstGeom prst="rect">
            <a:avLst/>
          </a:prstGeom>
          <a:noFill/>
          <a:ln/>
        </p:spPr>
        <p:txBody>
          <a:bodyPr wrap="square"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Avg Claim Amount</a:t>
            </a:r>
            <a:endParaRPr lang="en-US" sz="1300" dirty="0"/>
          </a:p>
        </p:txBody>
      </p:sp>
      <p:sp>
        <p:nvSpPr>
          <p:cNvPr id="23" name="Text 21"/>
          <p:cNvSpPr/>
          <p:nvPr/>
        </p:nvSpPr>
        <p:spPr>
          <a:xfrm>
            <a:off x="411480" y="4133088"/>
            <a:ext cx="4023360" cy="274320"/>
          </a:xfrm>
          <a:prstGeom prst="rect">
            <a:avLst/>
          </a:prstGeom>
          <a:noFill/>
          <a:ln/>
        </p:spPr>
        <p:txBody>
          <a:bodyPr wrap="square" rtlCol="0" anchor="ctr"/>
          <a:lstStyle/>
          <a:p>
            <a:pPr indent="0" marL="0">
              <a:buNone/>
            </a:pPr>
            <a:r>
              <a:rPr lang="en-US" sz="1000" dirty="0">
                <a:solidFill>
                  <a:srgbClr val="00E5A0"/>
                </a:solidFill>
                <a:latin typeface="Consolas" pitchFamily="34" charset="0"/>
                <a:ea typeface="Consolas" pitchFamily="34" charset="-122"/>
                <a:cs typeface="Consolas" pitchFamily="34" charset="-120"/>
              </a:rPr>
              <a:t>AVERAGE(insurance_data_car[Claim Amount])</a:t>
            </a:r>
            <a:endParaRPr lang="en-US" sz="1000" dirty="0"/>
          </a:p>
        </p:txBody>
      </p:sp>
      <p:sp>
        <p:nvSpPr>
          <p:cNvPr id="24" name="Text 22"/>
          <p:cNvSpPr/>
          <p:nvPr/>
        </p:nvSpPr>
        <p:spPr>
          <a:xfrm>
            <a:off x="411480" y="4389120"/>
            <a:ext cx="4023360" cy="256032"/>
          </a:xfrm>
          <a:prstGeom prst="rect">
            <a:avLst/>
          </a:prstGeom>
          <a:noFill/>
          <a:ln/>
        </p:spPr>
        <p:txBody>
          <a:bodyPr wrap="square" rtlCol="0" anchor="ctr"/>
          <a:lstStyle/>
          <a:p>
            <a:pPr indent="0" marL="0">
              <a:buNone/>
            </a:pPr>
            <a:r>
              <a:rPr lang="en-US" sz="1000" dirty="0">
                <a:solidFill>
                  <a:srgbClr val="B0C4DE"/>
                </a:solidFill>
                <a:latin typeface="Calibri" pitchFamily="34" charset="0"/>
                <a:ea typeface="Calibri" pitchFamily="34" charset="-122"/>
                <a:cs typeface="Calibri" pitchFamily="34" charset="-120"/>
              </a:rPr>
              <a:t>Finds the average claim amount per policy</a:t>
            </a:r>
            <a:endParaRPr lang="en-US" sz="1000" dirty="0"/>
          </a:p>
        </p:txBody>
      </p:sp>
      <p:sp>
        <p:nvSpPr>
          <p:cNvPr id="25" name="Shape 23"/>
          <p:cNvSpPr/>
          <p:nvPr/>
        </p:nvSpPr>
        <p:spPr>
          <a:xfrm>
            <a:off x="4754880" y="822960"/>
            <a:ext cx="4206240" cy="868680"/>
          </a:xfrm>
          <a:prstGeom prst="rect">
            <a:avLst/>
          </a:prstGeom>
          <a:solidFill>
            <a:srgbClr val="0D2137"/>
          </a:solidFill>
          <a:ln/>
        </p:spPr>
      </p:sp>
      <p:sp>
        <p:nvSpPr>
          <p:cNvPr id="26" name="Shape 24"/>
          <p:cNvSpPr/>
          <p:nvPr/>
        </p:nvSpPr>
        <p:spPr>
          <a:xfrm>
            <a:off x="4754880" y="822960"/>
            <a:ext cx="54864" cy="868680"/>
          </a:xfrm>
          <a:prstGeom prst="rect">
            <a:avLst/>
          </a:prstGeom>
          <a:solidFill>
            <a:srgbClr val="00C9A7"/>
          </a:solidFill>
          <a:ln w="12700">
            <a:solidFill>
              <a:srgbClr val="00C9A7"/>
            </a:solidFill>
            <a:prstDash val="solid"/>
          </a:ln>
        </p:spPr>
      </p:sp>
      <p:sp>
        <p:nvSpPr>
          <p:cNvPr id="27" name="Text 25"/>
          <p:cNvSpPr/>
          <p:nvPr/>
        </p:nvSpPr>
        <p:spPr>
          <a:xfrm>
            <a:off x="4892040" y="877824"/>
            <a:ext cx="4023360" cy="274320"/>
          </a:xfrm>
          <a:prstGeom prst="rect">
            <a:avLst/>
          </a:prstGeom>
          <a:noFill/>
          <a:ln/>
        </p:spPr>
        <p:txBody>
          <a:bodyPr wrap="square"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Total Policies</a:t>
            </a:r>
            <a:endParaRPr lang="en-US" sz="1300" dirty="0"/>
          </a:p>
        </p:txBody>
      </p:sp>
      <p:sp>
        <p:nvSpPr>
          <p:cNvPr id="28" name="Text 26"/>
          <p:cNvSpPr/>
          <p:nvPr/>
        </p:nvSpPr>
        <p:spPr>
          <a:xfrm>
            <a:off x="4892040" y="1115568"/>
            <a:ext cx="4023360" cy="274320"/>
          </a:xfrm>
          <a:prstGeom prst="rect">
            <a:avLst/>
          </a:prstGeom>
          <a:noFill/>
          <a:ln/>
        </p:spPr>
        <p:txBody>
          <a:bodyPr wrap="square" rtlCol="0" anchor="ctr"/>
          <a:lstStyle/>
          <a:p>
            <a:pPr indent="0" marL="0">
              <a:buNone/>
            </a:pPr>
            <a:r>
              <a:rPr lang="en-US" sz="1000" dirty="0">
                <a:solidFill>
                  <a:srgbClr val="00E5A0"/>
                </a:solidFill>
                <a:latin typeface="Consolas" pitchFamily="34" charset="0"/>
                <a:ea typeface="Consolas" pitchFamily="34" charset="-122"/>
                <a:cs typeface="Consolas" pitchFamily="34" charset="-120"/>
              </a:rPr>
              <a:t>COUNT(insurance_data_car[ID])</a:t>
            </a:r>
            <a:endParaRPr lang="en-US" sz="1000" dirty="0"/>
          </a:p>
        </p:txBody>
      </p:sp>
      <p:sp>
        <p:nvSpPr>
          <p:cNvPr id="29" name="Text 27"/>
          <p:cNvSpPr/>
          <p:nvPr/>
        </p:nvSpPr>
        <p:spPr>
          <a:xfrm>
            <a:off x="4892040" y="1371600"/>
            <a:ext cx="4023360" cy="256032"/>
          </a:xfrm>
          <a:prstGeom prst="rect">
            <a:avLst/>
          </a:prstGeom>
          <a:noFill/>
          <a:ln/>
        </p:spPr>
        <p:txBody>
          <a:bodyPr wrap="square" rtlCol="0" anchor="ctr"/>
          <a:lstStyle/>
          <a:p>
            <a:pPr indent="0" marL="0">
              <a:buNone/>
            </a:pPr>
            <a:r>
              <a:rPr lang="en-US" sz="1000" dirty="0">
                <a:solidFill>
                  <a:srgbClr val="B0C4DE"/>
                </a:solidFill>
                <a:latin typeface="Calibri" pitchFamily="34" charset="0"/>
                <a:ea typeface="Calibri" pitchFamily="34" charset="-122"/>
                <a:cs typeface="Calibri" pitchFamily="34" charset="-120"/>
              </a:rPr>
              <a:t>Counts total number of policies</a:t>
            </a:r>
            <a:endParaRPr lang="en-US" sz="1000" dirty="0"/>
          </a:p>
        </p:txBody>
      </p:sp>
      <p:sp>
        <p:nvSpPr>
          <p:cNvPr id="30" name="Shape 28"/>
          <p:cNvSpPr/>
          <p:nvPr/>
        </p:nvSpPr>
        <p:spPr>
          <a:xfrm>
            <a:off x="4754880" y="1828800"/>
            <a:ext cx="4206240" cy="868680"/>
          </a:xfrm>
          <a:prstGeom prst="rect">
            <a:avLst/>
          </a:prstGeom>
          <a:solidFill>
            <a:srgbClr val="0D2137"/>
          </a:solidFill>
          <a:ln/>
        </p:spPr>
      </p:sp>
      <p:sp>
        <p:nvSpPr>
          <p:cNvPr id="31" name="Shape 29"/>
          <p:cNvSpPr/>
          <p:nvPr/>
        </p:nvSpPr>
        <p:spPr>
          <a:xfrm>
            <a:off x="4754880" y="1828800"/>
            <a:ext cx="54864" cy="868680"/>
          </a:xfrm>
          <a:prstGeom prst="rect">
            <a:avLst/>
          </a:prstGeom>
          <a:solidFill>
            <a:srgbClr val="00C9A7"/>
          </a:solidFill>
          <a:ln w="12700">
            <a:solidFill>
              <a:srgbClr val="00C9A7"/>
            </a:solidFill>
            <a:prstDash val="solid"/>
          </a:ln>
        </p:spPr>
      </p:sp>
      <p:sp>
        <p:nvSpPr>
          <p:cNvPr id="32" name="Text 30"/>
          <p:cNvSpPr/>
          <p:nvPr/>
        </p:nvSpPr>
        <p:spPr>
          <a:xfrm>
            <a:off x="4892040" y="1883664"/>
            <a:ext cx="4023360" cy="274320"/>
          </a:xfrm>
          <a:prstGeom prst="rect">
            <a:avLst/>
          </a:prstGeom>
          <a:noFill/>
          <a:ln/>
        </p:spPr>
        <p:txBody>
          <a:bodyPr wrap="square"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Male Count</a:t>
            </a:r>
            <a:endParaRPr lang="en-US" sz="1300" dirty="0"/>
          </a:p>
        </p:txBody>
      </p:sp>
      <p:sp>
        <p:nvSpPr>
          <p:cNvPr id="33" name="Text 31"/>
          <p:cNvSpPr/>
          <p:nvPr/>
        </p:nvSpPr>
        <p:spPr>
          <a:xfrm>
            <a:off x="4892040" y="2121408"/>
            <a:ext cx="4023360" cy="274320"/>
          </a:xfrm>
          <a:prstGeom prst="rect">
            <a:avLst/>
          </a:prstGeom>
          <a:noFill/>
          <a:ln/>
        </p:spPr>
        <p:txBody>
          <a:bodyPr wrap="square" rtlCol="0" anchor="ctr"/>
          <a:lstStyle/>
          <a:p>
            <a:pPr indent="0" marL="0">
              <a:buNone/>
            </a:pPr>
            <a:r>
              <a:rPr lang="en-US" sz="1000" dirty="0">
                <a:solidFill>
                  <a:srgbClr val="00E5A0"/>
                </a:solidFill>
                <a:latin typeface="Consolas" pitchFamily="34" charset="0"/>
                <a:ea typeface="Consolas" pitchFamily="34" charset="-122"/>
                <a:cs typeface="Consolas" pitchFamily="34" charset="-120"/>
              </a:rPr>
              <a:t>CALCULATE(COUNT([ID]), Gender='Male')</a:t>
            </a:r>
            <a:endParaRPr lang="en-US" sz="1000" dirty="0"/>
          </a:p>
        </p:txBody>
      </p:sp>
      <p:sp>
        <p:nvSpPr>
          <p:cNvPr id="34" name="Text 32"/>
          <p:cNvSpPr/>
          <p:nvPr/>
        </p:nvSpPr>
        <p:spPr>
          <a:xfrm>
            <a:off x="4892040" y="2377440"/>
            <a:ext cx="4023360" cy="256032"/>
          </a:xfrm>
          <a:prstGeom prst="rect">
            <a:avLst/>
          </a:prstGeom>
          <a:noFill/>
          <a:ln/>
        </p:spPr>
        <p:txBody>
          <a:bodyPr wrap="square" rtlCol="0" anchor="ctr"/>
          <a:lstStyle/>
          <a:p>
            <a:pPr indent="0" marL="0">
              <a:buNone/>
            </a:pPr>
            <a:r>
              <a:rPr lang="en-US" sz="1000" dirty="0">
                <a:solidFill>
                  <a:srgbClr val="B0C4DE"/>
                </a:solidFill>
                <a:latin typeface="Calibri" pitchFamily="34" charset="0"/>
                <a:ea typeface="Calibri" pitchFamily="34" charset="-122"/>
                <a:cs typeface="Calibri" pitchFamily="34" charset="-120"/>
              </a:rPr>
              <a:t>Counts only male policyholders</a:t>
            </a:r>
            <a:endParaRPr lang="en-US" sz="1000" dirty="0"/>
          </a:p>
        </p:txBody>
      </p:sp>
      <p:sp>
        <p:nvSpPr>
          <p:cNvPr id="35" name="Shape 33"/>
          <p:cNvSpPr/>
          <p:nvPr/>
        </p:nvSpPr>
        <p:spPr>
          <a:xfrm>
            <a:off x="4754880" y="2834640"/>
            <a:ext cx="4206240" cy="868680"/>
          </a:xfrm>
          <a:prstGeom prst="rect">
            <a:avLst/>
          </a:prstGeom>
          <a:solidFill>
            <a:srgbClr val="0D2137"/>
          </a:solidFill>
          <a:ln/>
        </p:spPr>
      </p:sp>
      <p:sp>
        <p:nvSpPr>
          <p:cNvPr id="36" name="Shape 34"/>
          <p:cNvSpPr/>
          <p:nvPr/>
        </p:nvSpPr>
        <p:spPr>
          <a:xfrm>
            <a:off x="4754880" y="2834640"/>
            <a:ext cx="54864" cy="868680"/>
          </a:xfrm>
          <a:prstGeom prst="rect">
            <a:avLst/>
          </a:prstGeom>
          <a:solidFill>
            <a:srgbClr val="00C9A7"/>
          </a:solidFill>
          <a:ln w="12700">
            <a:solidFill>
              <a:srgbClr val="00C9A7"/>
            </a:solidFill>
            <a:prstDash val="solid"/>
          </a:ln>
        </p:spPr>
      </p:sp>
      <p:sp>
        <p:nvSpPr>
          <p:cNvPr id="37" name="Text 35"/>
          <p:cNvSpPr/>
          <p:nvPr/>
        </p:nvSpPr>
        <p:spPr>
          <a:xfrm>
            <a:off x="4892040" y="2889504"/>
            <a:ext cx="4023360" cy="274320"/>
          </a:xfrm>
          <a:prstGeom prst="rect">
            <a:avLst/>
          </a:prstGeom>
          <a:noFill/>
          <a:ln/>
        </p:spPr>
        <p:txBody>
          <a:bodyPr wrap="square"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Female Count</a:t>
            </a:r>
            <a:endParaRPr lang="en-US" sz="1300" dirty="0"/>
          </a:p>
        </p:txBody>
      </p:sp>
      <p:sp>
        <p:nvSpPr>
          <p:cNvPr id="38" name="Text 36"/>
          <p:cNvSpPr/>
          <p:nvPr/>
        </p:nvSpPr>
        <p:spPr>
          <a:xfrm>
            <a:off x="4892040" y="3127248"/>
            <a:ext cx="4023360" cy="274320"/>
          </a:xfrm>
          <a:prstGeom prst="rect">
            <a:avLst/>
          </a:prstGeom>
          <a:noFill/>
          <a:ln/>
        </p:spPr>
        <p:txBody>
          <a:bodyPr wrap="square" rtlCol="0" anchor="ctr"/>
          <a:lstStyle/>
          <a:p>
            <a:pPr indent="0" marL="0">
              <a:buNone/>
            </a:pPr>
            <a:r>
              <a:rPr lang="en-US" sz="1000" dirty="0">
                <a:solidFill>
                  <a:srgbClr val="00E5A0"/>
                </a:solidFill>
                <a:latin typeface="Consolas" pitchFamily="34" charset="0"/>
                <a:ea typeface="Consolas" pitchFamily="34" charset="-122"/>
                <a:cs typeface="Consolas" pitchFamily="34" charset="-120"/>
              </a:rPr>
              <a:t>CALCULATE(COUNT([ID]), Gender='Female')</a:t>
            </a:r>
            <a:endParaRPr lang="en-US" sz="1000" dirty="0"/>
          </a:p>
        </p:txBody>
      </p:sp>
      <p:sp>
        <p:nvSpPr>
          <p:cNvPr id="39" name="Text 37"/>
          <p:cNvSpPr/>
          <p:nvPr/>
        </p:nvSpPr>
        <p:spPr>
          <a:xfrm>
            <a:off x="4892040" y="3383280"/>
            <a:ext cx="4023360" cy="256032"/>
          </a:xfrm>
          <a:prstGeom prst="rect">
            <a:avLst/>
          </a:prstGeom>
          <a:noFill/>
          <a:ln/>
        </p:spPr>
        <p:txBody>
          <a:bodyPr wrap="square" rtlCol="0" anchor="ctr"/>
          <a:lstStyle/>
          <a:p>
            <a:pPr indent="0" marL="0">
              <a:buNone/>
            </a:pPr>
            <a:r>
              <a:rPr lang="en-US" sz="1000" dirty="0">
                <a:solidFill>
                  <a:srgbClr val="B0C4DE"/>
                </a:solidFill>
                <a:latin typeface="Calibri" pitchFamily="34" charset="0"/>
                <a:ea typeface="Calibri" pitchFamily="34" charset="-122"/>
                <a:cs typeface="Calibri" pitchFamily="34" charset="-120"/>
              </a:rPr>
              <a:t>Counts only female policyholders</a:t>
            </a:r>
            <a:endParaRPr lang="en-US" sz="1000" dirty="0"/>
          </a:p>
        </p:txBody>
      </p:sp>
      <p:sp>
        <p:nvSpPr>
          <p:cNvPr id="40" name="Shape 38"/>
          <p:cNvSpPr/>
          <p:nvPr/>
        </p:nvSpPr>
        <p:spPr>
          <a:xfrm>
            <a:off x="4754880" y="4160520"/>
            <a:ext cx="4206240" cy="658368"/>
          </a:xfrm>
          <a:prstGeom prst="rect">
            <a:avLst/>
          </a:prstGeom>
          <a:solidFill>
            <a:srgbClr val="051522"/>
          </a:solidFill>
          <a:ln w="10160">
            <a:solidFill>
              <a:srgbClr val="00C9A7"/>
            </a:solidFill>
            <a:prstDash val="solid"/>
          </a:ln>
        </p:spPr>
      </p:sp>
      <p:sp>
        <p:nvSpPr>
          <p:cNvPr id="41" name="Text 39"/>
          <p:cNvSpPr/>
          <p:nvPr/>
        </p:nvSpPr>
        <p:spPr>
          <a:xfrm>
            <a:off x="4892040" y="4206240"/>
            <a:ext cx="3931920" cy="566928"/>
          </a:xfrm>
          <a:prstGeom prst="rect">
            <a:avLst/>
          </a:prstGeom>
          <a:noFill/>
          <a:ln/>
        </p:spPr>
        <p:txBody>
          <a:bodyPr wrap="square" rtlCol="0" anchor="ctr"/>
          <a:lstStyle/>
          <a:p>
            <a:pPr indent="0" marL="0">
              <a:buNone/>
            </a:pPr>
            <a:r>
              <a:rPr lang="en-US" sz="1100" dirty="0">
                <a:solidFill>
                  <a:srgbClr val="00C9A7"/>
                </a:solidFill>
                <a:latin typeface="Calibri" pitchFamily="34" charset="0"/>
                <a:ea typeface="Calibri" pitchFamily="34" charset="-122"/>
                <a:cs typeface="Calibri" pitchFamily="34" charset="-120"/>
              </a:rPr>
              <a:t>⚡  The [select measure] switch lets you toggle between Total Claim Amount and Total Policies on all visuals.</a:t>
            </a:r>
            <a:endParaRPr lang="en-US" sz="1100" dirty="0"/>
          </a:p>
        </p:txBody>
      </p:sp>
      <p:sp>
        <p:nvSpPr>
          <p:cNvPr id="42" name="Shape 40"/>
          <p:cNvSpPr/>
          <p:nvPr/>
        </p:nvSpPr>
        <p:spPr>
          <a:xfrm>
            <a:off x="0" y="4960620"/>
            <a:ext cx="9144000" cy="182880"/>
          </a:xfrm>
          <a:prstGeom prst="rect">
            <a:avLst/>
          </a:prstGeom>
          <a:solidFill>
            <a:srgbClr val="028090">
              <a:alpha val="60000"/>
            </a:srgbClr>
          </a:solidFill>
          <a:ln w="12700">
            <a:solidFill>
              <a:srgbClr val="028090"/>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Text 1"/>
          <p:cNvSpPr/>
          <p:nvPr/>
        </p:nvSpPr>
        <p:spPr>
          <a:xfrm>
            <a:off x="365760" y="182880"/>
            <a:ext cx="8229600" cy="502920"/>
          </a:xfrm>
          <a:prstGeom prst="rect">
            <a:avLst/>
          </a:prstGeom>
          <a:noFill/>
          <a:ln/>
        </p:spPr>
        <p:txBody>
          <a:bodyPr wrap="square" rtlCol="0" anchor="ctr"/>
          <a:lstStyle/>
          <a:p>
            <a:pPr indent="0" marL="0">
              <a:buNone/>
            </a:pPr>
            <a:r>
              <a:rPr lang="en-US" sz="2800" b="1" spc="100" kern="0" dirty="0">
                <a:solidFill>
                  <a:srgbClr val="FFFFFF"/>
                </a:solidFill>
                <a:latin typeface="Calibri" pitchFamily="34" charset="0"/>
                <a:ea typeface="Calibri" pitchFamily="34" charset="-122"/>
                <a:cs typeface="Calibri" pitchFamily="34" charset="-120"/>
              </a:rPr>
              <a:t>THE DASHBOARD</a:t>
            </a:r>
            <a:endParaRPr lang="en-US" sz="2800" dirty="0"/>
          </a:p>
        </p:txBody>
      </p:sp>
      <p:sp>
        <p:nvSpPr>
          <p:cNvPr id="4" name="Shape 2"/>
          <p:cNvSpPr/>
          <p:nvPr/>
        </p:nvSpPr>
        <p:spPr>
          <a:xfrm>
            <a:off x="365760" y="685800"/>
            <a:ext cx="8412480" cy="27432"/>
          </a:xfrm>
          <a:prstGeom prst="rect">
            <a:avLst/>
          </a:prstGeom>
          <a:solidFill>
            <a:srgbClr val="028090">
              <a:alpha val="60000"/>
            </a:srgbClr>
          </a:solidFill>
          <a:ln w="12700">
            <a:solidFill>
              <a:srgbClr val="028090"/>
            </a:solidFill>
            <a:prstDash val="solid"/>
          </a:ln>
        </p:spPr>
      </p:sp>
      <p:pic>
        <p:nvPicPr>
          <p:cNvPr id="5" name="Image 0" descr="/home/claude/dashboard.jpg">    </p:cNvPr>
          <p:cNvPicPr>
            <a:picLocks noChangeAspect="1"/>
          </p:cNvPicPr>
          <p:nvPr/>
        </p:nvPicPr>
        <p:blipFill>
          <a:blip r:embed="rId1"/>
          <a:srcRect l="0" r="0" t="0" b="0"/>
          <a:stretch/>
        </p:blipFill>
        <p:spPr>
          <a:xfrm>
            <a:off x="274320" y="777240"/>
            <a:ext cx="8595360" cy="4160520"/>
          </a:xfrm>
          <a:prstGeom prst="rect">
            <a:avLst/>
          </a:prstGeom>
        </p:spPr>
      </p:pic>
      <p:sp>
        <p:nvSpPr>
          <p:cNvPr id="6" name="Shape 3"/>
          <p:cNvSpPr/>
          <p:nvPr/>
        </p:nvSpPr>
        <p:spPr>
          <a:xfrm>
            <a:off x="0" y="4960620"/>
            <a:ext cx="9144000" cy="182880"/>
          </a:xfrm>
          <a:prstGeom prst="rect">
            <a:avLst/>
          </a:prstGeom>
          <a:solidFill>
            <a:srgbClr val="028090">
              <a:alpha val="60000"/>
            </a:srgbClr>
          </a:solidFill>
          <a:ln w="12700">
            <a:solidFill>
              <a:srgbClr val="028090"/>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Text 1"/>
          <p:cNvSpPr/>
          <p:nvPr/>
        </p:nvSpPr>
        <p:spPr>
          <a:xfrm>
            <a:off x="365760" y="182880"/>
            <a:ext cx="8229600" cy="502920"/>
          </a:xfrm>
          <a:prstGeom prst="rect">
            <a:avLst/>
          </a:prstGeom>
          <a:noFill/>
          <a:ln/>
        </p:spPr>
        <p:txBody>
          <a:bodyPr wrap="square" rtlCol="0" anchor="ctr"/>
          <a:lstStyle/>
          <a:p>
            <a:pPr indent="0" marL="0">
              <a:buNone/>
            </a:pPr>
            <a:r>
              <a:rPr lang="en-US" sz="2800" b="1" spc="100" kern="0" dirty="0">
                <a:solidFill>
                  <a:srgbClr val="FFFFFF"/>
                </a:solidFill>
                <a:latin typeface="Calibri" pitchFamily="34" charset="0"/>
                <a:ea typeface="Calibri" pitchFamily="34" charset="-122"/>
                <a:cs typeface="Calibri" pitchFamily="34" charset="-120"/>
              </a:rPr>
              <a:t>CONCLUSION</a:t>
            </a:r>
            <a:endParaRPr lang="en-US" sz="2800" dirty="0"/>
          </a:p>
        </p:txBody>
      </p:sp>
      <p:sp>
        <p:nvSpPr>
          <p:cNvPr id="4" name="Shape 2"/>
          <p:cNvSpPr/>
          <p:nvPr/>
        </p:nvSpPr>
        <p:spPr>
          <a:xfrm>
            <a:off x="365760" y="685800"/>
            <a:ext cx="8412480" cy="27432"/>
          </a:xfrm>
          <a:prstGeom prst="rect">
            <a:avLst/>
          </a:prstGeom>
          <a:solidFill>
            <a:srgbClr val="028090">
              <a:alpha val="60000"/>
            </a:srgbClr>
          </a:solidFill>
          <a:ln w="12700">
            <a:solidFill>
              <a:srgbClr val="028090"/>
            </a:solidFill>
            <a:prstDash val="solid"/>
          </a:ln>
        </p:spPr>
      </p:sp>
      <p:sp>
        <p:nvSpPr>
          <p:cNvPr id="5" name="Shape 3"/>
          <p:cNvSpPr/>
          <p:nvPr/>
        </p:nvSpPr>
        <p:spPr>
          <a:xfrm>
            <a:off x="365760" y="822960"/>
            <a:ext cx="8412480" cy="3977640"/>
          </a:xfrm>
          <a:prstGeom prst="rect">
            <a:avLst/>
          </a:prstGeom>
          <a:solidFill>
            <a:srgbClr val="0D2137"/>
          </a:solidFill>
          <a:ln/>
          <a:effectLst>
            <a:outerShdw sx="100000" sy="100000" kx="0" ky="0" algn="bl" rotWithShape="0" blurRad="127000" dist="25400" dir="8100000">
              <a:srgbClr val="000000">
                <a:alpha val="30000"/>
              </a:srgbClr>
            </a:outerShdw>
          </a:effectLst>
        </p:spPr>
      </p:sp>
      <p:sp>
        <p:nvSpPr>
          <p:cNvPr id="6" name="Shape 4"/>
          <p:cNvSpPr/>
          <p:nvPr/>
        </p:nvSpPr>
        <p:spPr>
          <a:xfrm>
            <a:off x="365760" y="822960"/>
            <a:ext cx="8412480" cy="64008"/>
          </a:xfrm>
          <a:prstGeom prst="rect">
            <a:avLst/>
          </a:prstGeom>
          <a:solidFill>
            <a:srgbClr val="00C9A7"/>
          </a:solidFill>
          <a:ln w="12700">
            <a:solidFill>
              <a:srgbClr val="00C9A7"/>
            </a:solidFill>
            <a:prstDash val="solid"/>
          </a:ln>
        </p:spPr>
      </p:sp>
      <p:sp>
        <p:nvSpPr>
          <p:cNvPr id="7" name="Text 5"/>
          <p:cNvSpPr/>
          <p:nvPr/>
        </p:nvSpPr>
        <p:spPr>
          <a:xfrm>
            <a:off x="640080" y="1005840"/>
            <a:ext cx="7955280" cy="3657600"/>
          </a:xfrm>
          <a:prstGeom prst="rect">
            <a:avLst/>
          </a:prstGeom>
          <a:noFill/>
          <a:ln/>
        </p:spPr>
        <p:txBody>
          <a:bodyPr wrap="square" rtlCol="0" anchor="t"/>
          <a:lstStyle/>
          <a:p>
            <a:pPr indent="0" marL="0">
              <a:spcAft>
                <a:spcPts val="600"/>
              </a:spcAft>
              <a:buNone/>
            </a:pPr>
            <a:r>
              <a:rPr lang="en-US" sz="1500" dirty="0">
                <a:solidFill>
                  <a:srgbClr val="B0C4DE"/>
                </a:solidFill>
                <a:latin typeface="Calibri" pitchFamily="34" charset="0"/>
                <a:ea typeface="Calibri" pitchFamily="34" charset="-122"/>
                <a:cs typeface="Calibri" pitchFamily="34" charset="-120"/>
              </a:rPr>
              <a:t>This project analyzed car insurance data for 37,542 policyholders with a total claim amount of $187.8M. The analysis shows that Ford and Chevrolet customers file the most claims, and 80% of all claims come from private car owners. People between the ages of 26 and 55 are the highest risk group, while young drivers (15-25) have the lowest claims. When we look at education and marital status, single people with a High School education have the highest claims at $40.2M. Interestingly, the location of the customer does not matter much — all five coverage zones contribute almost equally to total claims. Cars manufactured between 2000 and 2017 show the highest claim amounts, while newer 2020 cars have very few claims so far. Overall, this dashboard gives insurance companies a clear picture of who makes the most claims, helping them make smarter decisions about pricing, coverage, and risk management.</a:t>
            </a:r>
            <a:endParaRPr lang="en-US" sz="1500" dirty="0"/>
          </a:p>
        </p:txBody>
      </p:sp>
      <p:sp>
        <p:nvSpPr>
          <p:cNvPr id="8" name="Shape 6"/>
          <p:cNvSpPr/>
          <p:nvPr/>
        </p:nvSpPr>
        <p:spPr>
          <a:xfrm>
            <a:off x="0" y="4960620"/>
            <a:ext cx="9144000" cy="182880"/>
          </a:xfrm>
          <a:prstGeom prst="rect">
            <a:avLst/>
          </a:prstGeom>
          <a:solidFill>
            <a:srgbClr val="028090">
              <a:alpha val="60000"/>
            </a:srgbClr>
          </a:solidFill>
          <a:ln w="12700">
            <a:solidFill>
              <a:srgbClr val="028090"/>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0" y="5070348"/>
            <a:ext cx="9144000" cy="73152"/>
          </a:xfrm>
          <a:prstGeom prst="rect">
            <a:avLst/>
          </a:prstGeom>
          <a:solidFill>
            <a:srgbClr val="00C9A7"/>
          </a:solidFill>
          <a:ln w="12700">
            <a:solidFill>
              <a:srgbClr val="00C9A7"/>
            </a:solidFill>
            <a:prstDash val="solid"/>
          </a:ln>
        </p:spPr>
      </p:sp>
      <p:sp>
        <p:nvSpPr>
          <p:cNvPr id="4" name="Shape 2"/>
          <p:cNvSpPr/>
          <p:nvPr/>
        </p:nvSpPr>
        <p:spPr>
          <a:xfrm>
            <a:off x="-457200" y="274320"/>
            <a:ext cx="3657600" cy="3657600"/>
          </a:xfrm>
          <a:prstGeom prst="ellipse">
            <a:avLst/>
          </a:prstGeom>
          <a:solidFill>
            <a:srgbClr val="028090">
              <a:alpha val="15000"/>
            </a:srgbClr>
          </a:solidFill>
          <a:ln w="6350">
            <a:solidFill>
              <a:srgbClr val="00C9A7"/>
            </a:solidFill>
            <a:prstDash val="solid"/>
          </a:ln>
        </p:spPr>
      </p:sp>
      <p:sp>
        <p:nvSpPr>
          <p:cNvPr id="5" name="Shape 3"/>
          <p:cNvSpPr/>
          <p:nvPr/>
        </p:nvSpPr>
        <p:spPr>
          <a:xfrm>
            <a:off x="6858000" y="1828800"/>
            <a:ext cx="3200400" cy="3200400"/>
          </a:xfrm>
          <a:prstGeom prst="ellipse">
            <a:avLst/>
          </a:prstGeom>
          <a:solidFill>
            <a:srgbClr val="028090">
              <a:alpha val="15000"/>
            </a:srgbClr>
          </a:solidFill>
          <a:ln w="6350">
            <a:solidFill>
              <a:srgbClr val="00C9A7"/>
            </a:solidFill>
            <a:prstDash val="solid"/>
          </a:ln>
        </p:spPr>
      </p:sp>
      <p:sp>
        <p:nvSpPr>
          <p:cNvPr id="6" name="Text 4"/>
          <p:cNvSpPr/>
          <p:nvPr/>
        </p:nvSpPr>
        <p:spPr>
          <a:xfrm>
            <a:off x="914400" y="1371600"/>
            <a:ext cx="7315200" cy="1097280"/>
          </a:xfrm>
          <a:prstGeom prst="rect">
            <a:avLst/>
          </a:prstGeom>
          <a:noFill/>
          <a:ln/>
        </p:spPr>
        <p:txBody>
          <a:bodyPr wrap="square" rtlCol="0" anchor="ctr"/>
          <a:lstStyle/>
          <a:p>
            <a:pPr algn="ctr" indent="0" marL="0">
              <a:buNone/>
            </a:pPr>
            <a:r>
              <a:rPr lang="en-US" sz="5400" b="1" spc="400" kern="0" dirty="0">
                <a:solidFill>
                  <a:srgbClr val="FFFFFF"/>
                </a:solidFill>
                <a:latin typeface="Calibri" pitchFamily="34" charset="0"/>
                <a:ea typeface="Calibri" pitchFamily="34" charset="-122"/>
                <a:cs typeface="Calibri" pitchFamily="34" charset="-120"/>
              </a:rPr>
              <a:t>THANK YOU</a:t>
            </a:r>
            <a:endParaRPr lang="en-US" sz="5400" dirty="0"/>
          </a:p>
        </p:txBody>
      </p:sp>
      <p:sp>
        <p:nvSpPr>
          <p:cNvPr id="7" name="Text 5"/>
          <p:cNvSpPr/>
          <p:nvPr/>
        </p:nvSpPr>
        <p:spPr>
          <a:xfrm>
            <a:off x="914400" y="2423160"/>
            <a:ext cx="7315200" cy="502920"/>
          </a:xfrm>
          <a:prstGeom prst="rect">
            <a:avLst/>
          </a:prstGeom>
          <a:noFill/>
          <a:ln/>
        </p:spPr>
        <p:txBody>
          <a:bodyPr wrap="square" rtlCol="0" anchor="ctr"/>
          <a:lstStyle/>
          <a:p>
            <a:pPr algn="ctr" indent="0" marL="0">
              <a:buNone/>
            </a:pPr>
            <a:r>
              <a:rPr lang="en-US" sz="2200" i="1" dirty="0">
                <a:solidFill>
                  <a:srgbClr val="00C9A7"/>
                </a:solidFill>
                <a:latin typeface="Calibri" pitchFamily="34" charset="0"/>
                <a:ea typeface="Calibri" pitchFamily="34" charset="-122"/>
                <a:cs typeface="Calibri" pitchFamily="34" charset="-120"/>
              </a:rPr>
              <a:t>for your attention</a:t>
            </a:r>
            <a:endParaRPr lang="en-US" sz="2200" dirty="0"/>
          </a:p>
        </p:txBody>
      </p:sp>
      <p:sp>
        <p:nvSpPr>
          <p:cNvPr id="8" name="Shape 6"/>
          <p:cNvSpPr/>
          <p:nvPr/>
        </p:nvSpPr>
        <p:spPr>
          <a:xfrm>
            <a:off x="3200400" y="3017520"/>
            <a:ext cx="2743200" cy="36576"/>
          </a:xfrm>
          <a:prstGeom prst="rect">
            <a:avLst/>
          </a:prstGeom>
          <a:solidFill>
            <a:srgbClr val="00C9A7">
              <a:alpha val="60000"/>
            </a:srgbClr>
          </a:solidFill>
          <a:ln w="12700">
            <a:solidFill>
              <a:srgbClr val="00C9A7"/>
            </a:solidFill>
            <a:prstDash val="solid"/>
          </a:ln>
        </p:spPr>
      </p:sp>
      <p:sp>
        <p:nvSpPr>
          <p:cNvPr id="9" name="Text 7"/>
          <p:cNvSpPr/>
          <p:nvPr/>
        </p:nvSpPr>
        <p:spPr>
          <a:xfrm>
            <a:off x="914400" y="3200400"/>
            <a:ext cx="7315200" cy="411480"/>
          </a:xfrm>
          <a:prstGeom prst="rect">
            <a:avLst/>
          </a:prstGeom>
          <a:noFill/>
          <a:ln/>
        </p:spPr>
        <p:txBody>
          <a:bodyPr wrap="square" rtlCol="0" anchor="ctr"/>
          <a:lstStyle/>
          <a:p>
            <a:pPr algn="ctr" indent="0" marL="0">
              <a:buNone/>
            </a:pPr>
            <a:r>
              <a:rPr lang="en-US" sz="1800" dirty="0">
                <a:solidFill>
                  <a:srgbClr val="B0C4DE"/>
                </a:solidFill>
                <a:latin typeface="Calibri" pitchFamily="34" charset="0"/>
                <a:ea typeface="Calibri" pitchFamily="34" charset="-122"/>
                <a:cs typeface="Calibri" pitchFamily="34" charset="-120"/>
              </a:rPr>
              <a:t>Presented by  Dhanushree N</a:t>
            </a:r>
            <a:endParaRPr lang="en-US" sz="1800" dirty="0"/>
          </a:p>
        </p:txBody>
      </p:sp>
      <p:sp>
        <p:nvSpPr>
          <p:cNvPr id="10" name="Text 8"/>
          <p:cNvSpPr/>
          <p:nvPr/>
        </p:nvSpPr>
        <p:spPr>
          <a:xfrm>
            <a:off x="914400" y="3611880"/>
            <a:ext cx="7315200" cy="365760"/>
          </a:xfrm>
          <a:prstGeom prst="rect">
            <a:avLst/>
          </a:prstGeom>
          <a:noFill/>
          <a:ln/>
        </p:spPr>
        <p:txBody>
          <a:bodyPr wrap="square" rtlCol="0" anchor="ctr"/>
          <a:lstStyle/>
          <a:p>
            <a:pPr algn="ctr" indent="0" marL="0">
              <a:buNone/>
            </a:pPr>
            <a:r>
              <a:rPr lang="en-US" sz="1400" dirty="0">
                <a:solidFill>
                  <a:srgbClr val="028090"/>
                </a:solidFill>
                <a:latin typeface="Calibri" pitchFamily="34" charset="0"/>
                <a:ea typeface="Calibri" pitchFamily="34" charset="-122"/>
                <a:cs typeface="Calibri" pitchFamily="34" charset="-120"/>
              </a:rPr>
              <a:t>Insurance Risk &amp; Claims Analysis  |  Power BI Project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Risk and Claims Analysis</dc:title>
  <dc:subject>PptxGenJS Presentation</dc:subject>
  <dc:creator>Dhanushree N</dc:creator>
  <cp:lastModifiedBy>Dhanushree N</cp:lastModifiedBy>
  <cp:revision>1</cp:revision>
  <dcterms:created xsi:type="dcterms:W3CDTF">2026-03-07T19:13:01Z</dcterms:created>
  <dcterms:modified xsi:type="dcterms:W3CDTF">2026-03-07T19:13:01Z</dcterms:modified>
</cp:coreProperties>
</file>